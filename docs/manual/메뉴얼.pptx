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42"/>
    <p:restoredTop sz="94767"/>
  </p:normalViewPr>
  <p:slideViewPr>
    <p:cSldViewPr snapToGrid="0">
      <p:cViewPr varScale="1">
        <p:scale>
          <a:sx n="133" d="100"/>
          <a:sy n="133" d="100"/>
        </p:scale>
        <p:origin x="200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28D09-BEFD-5231-C544-9DBBBB433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10B963-F53C-A02F-04B0-E567FFF15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8BB6EB-DD2B-5655-F07D-0098BB6C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27D3A9-05C5-F65C-F713-8424A681F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F34275-C093-0694-099F-1C03290D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09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49D3D-2C60-51AB-F055-1FC5F93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52FFC9-FDF6-AC3D-D2FB-2DEF8C294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2EF19C-2E4A-53B6-3384-EE00264A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FDCC99-4966-A4B8-4AD7-3C33FB7A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20896C-D8C0-A292-518B-C5D089AF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453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085D1-1C3D-5E10-92D1-0C274D69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BB3F9E-3EF3-C5C1-475B-A9AF6D955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600F2-8DE0-D490-D164-7AC41B6A2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5C6745-C1D4-ACDF-2F4E-E71E403D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8D43C5-6834-2D76-A754-2E65A934D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913DBC-BE78-A6A7-EF09-2E25EB9F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813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CADE5-6D3F-ABA8-D6D9-871F3364D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4F19D-BF7D-4C6E-EDFD-6D995ECF4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8464BF-3BD9-3DC1-E9FB-47CD3A509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C796DC-5EBC-3A45-9E47-0B4C675EA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DBC553-F9B7-75AC-C305-E40879999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F52485-888F-AF26-DB7E-AC290B63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19B527-6875-6A37-07A0-084EE86E4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4DF7AC-8983-DDAD-BBB9-508D22AB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029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5EB98A-0A37-76C8-5CCB-850AFDEA6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9F073E-3860-C456-8D51-1B616360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DD3C62-9921-BC9A-14E7-1C0070DE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50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078A9-6F40-E3A7-AEB0-AE8FE80D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79D588-B1DC-E905-8054-1B4AD333D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C88E61-D1C7-D242-508A-5094C5B6F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5F966B-E0D9-CBCA-3303-0A63FF00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1D60B5-9BD1-57D1-DCD0-3A9A2828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8AAC12-144D-B9D3-4F99-A5FBEB9E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4552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C06F2-50EF-57CC-9B3E-C68B24F20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61D958-945E-2472-0E2A-3C0161905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94B754-33E9-62C3-D892-DA238DA80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F37127-59DD-E816-085A-4E5343CF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1F70B5-511B-B170-7FBC-BF6FFE28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92186C-06EA-1D10-D8FC-8B55828C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4989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DF38A-678E-7040-8917-8059F5DB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238988-D0C5-3B7A-4EA2-9A9E9EC88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1D2410-32F5-7345-5785-5C742662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77A003-6278-33D9-09FB-E7C22D83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53E7B6-15BF-19AC-45A0-6A4B120B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969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FE0575-55ED-9F97-7430-75220CCF6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BBCB18-6717-0C73-E895-ADCA27B58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ED23A-3817-CA81-8A5B-48B18A02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76435B-AA82-919D-483E-610F50C4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893C33-122D-9A48-8E43-62C422E1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474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4DF5E2-B35A-9557-3281-BA113AC0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7D6C3F-741E-42C4-C4F4-EF32F19A0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896C10-EA3E-A50D-0B8F-6CF380040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C6438-F2AB-AF49-AD48-9E0F72FE84AA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3E599E-6EA0-AEFC-A07F-8CA42F92B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5FA24E-DD0A-9772-4CE6-53D902D1B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7B8B8-668A-7D4B-84DE-43AE5523758F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00" name="DecoTick"/>
          <p:cNvSpPr/>
          <p:nvPr/>
        </p:nvSpPr>
        <p:spPr>
          <a:xfrm>
            <a:off x="762000" y="1005840"/>
            <a:ext cx="457200" cy="381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DecoRule"/>
          <p:cNvSpPr/>
          <p:nvPr/>
        </p:nvSpPr>
        <p:spPr>
          <a:xfrm>
            <a:off x="762000" y="6588125"/>
            <a:ext cx="10668000" cy="12700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DecoFooter"/>
          <p:cNvSpPr/>
          <p:nvPr/>
        </p:nvSpPr>
        <p:spPr>
          <a:xfrm>
            <a:off x="762000" y="6626225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ko-KR" sz="1000" spc="200" dirty="0">
                <a:solidFill>
                  <a:srgbClr val="9AA0A8"/>
                </a:solidFill>
              </a:rPr>
              <a:t>SYSTEM USER MANUAL</a:t>
            </a:r>
          </a:p>
        </p:txBody>
      </p:sp>
    </p:spTree>
    <p:extLst>
      <p:ext uri="{BB962C8B-B14F-4D97-AF65-F5344CB8AC3E}">
        <p14:creationId xmlns:p14="http://schemas.microsoft.com/office/powerpoint/2010/main" val="303858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rgbClr val="16283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500" kern="1200">
          <a:solidFill>
            <a:srgbClr val="33383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5495B5E-9FA6-A94F-926F-A7FCBCD54A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8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3576CA-3EC6-C84A-B8B3-FDEC115EF5A0}"/>
              </a:ext>
            </a:extLst>
          </p:cNvPr>
          <p:cNvSpPr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  <a:noFill/>
          <a:ln w="9525" cap="flat" cmpd="sng" algn="ctr">
            <a:solidFill>
              <a:srgbClr val="8A724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29D6F-165A-884D-B700-720466F0D375}"/>
              </a:ext>
            </a:extLst>
          </p:cNvPr>
          <p:cNvSpPr txBox="1"/>
          <p:nvPr/>
        </p:nvSpPr>
        <p:spPr>
          <a:xfrm>
            <a:off x="914400" y="18796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>
                <a:solidFill>
                  <a:srgbClr val="B08D57"/>
                </a:solidFill>
              </a:rPr>
              <a:t>SYSTEM USER MANUAL</a:t>
            </a:r>
            <a:endParaRPr lang="ko-KR" altLang="en-US" sz="1400">
              <a:solidFill>
                <a:srgbClr val="B08D5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4EBA2-1AF7-B34E-A1B4-9EA12E887353}"/>
              </a:ext>
            </a:extLst>
          </p:cNvPr>
          <p:cNvSpPr txBox="1"/>
          <p:nvPr/>
        </p:nvSpPr>
        <p:spPr>
          <a:xfrm>
            <a:off x="914400" y="2286000"/>
            <a:ext cx="8890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600" b="1">
                <a:solidFill>
                  <a:srgbClr val="FFFFFF"/>
                </a:solidFill>
              </a:rPr>
              <a:t>업무 매뉴얼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90501E-8E84-9C4F-A4BA-7351B79DDA30}"/>
              </a:ext>
            </a:extLst>
          </p:cNvPr>
          <p:cNvSpPr/>
          <p:nvPr/>
        </p:nvSpPr>
        <p:spPr>
          <a:xfrm>
            <a:off x="914400" y="3454400"/>
            <a:ext cx="711200" cy="38100"/>
          </a:xfrm>
          <a:prstGeom prst="rect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642DE-1067-D444-BD8F-468200F2B824}"/>
              </a:ext>
            </a:extLst>
          </p:cNvPr>
          <p:cNvSpPr txBox="1"/>
          <p:nvPr/>
        </p:nvSpPr>
        <p:spPr>
          <a:xfrm>
            <a:off x="9144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>
                <a:solidFill>
                  <a:srgbClr val="C9D2DC"/>
                </a:solidFill>
              </a:rPr>
              <a:t>계약 체결부터 발주</a:t>
            </a:r>
            <a:r>
              <a:rPr lang="en-US" altLang="ko-KR" sz="1700">
                <a:solidFill>
                  <a:srgbClr val="C9D2DC"/>
                </a:solidFill>
              </a:rPr>
              <a:t>·</a:t>
            </a:r>
            <a:r>
              <a:rPr lang="ko-KR" altLang="en-US" sz="1700">
                <a:solidFill>
                  <a:srgbClr val="C9D2DC"/>
                </a:solidFill>
              </a:rPr>
              <a:t>제작까지</a:t>
            </a:r>
            <a:r>
              <a:rPr lang="en-US" altLang="ko-KR" sz="1700">
                <a:solidFill>
                  <a:srgbClr val="C9D2DC"/>
                </a:solidFill>
              </a:rPr>
              <a:t>, </a:t>
            </a:r>
            <a:r>
              <a:rPr lang="ko-KR" altLang="en-US" sz="1700">
                <a:solidFill>
                  <a:srgbClr val="C9D2DC"/>
                </a:solidFill>
              </a:rPr>
              <a:t>하나의 흐름으로 관리합니다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D4F1F5-FA1E-1641-A209-74D36CF27809}"/>
              </a:ext>
            </a:extLst>
          </p:cNvPr>
          <p:cNvSpPr/>
          <p:nvPr/>
        </p:nvSpPr>
        <p:spPr>
          <a:xfrm>
            <a:off x="914400" y="4724400"/>
            <a:ext cx="2438400" cy="711200"/>
          </a:xfrm>
          <a:prstGeom prst="rect">
            <a:avLst/>
          </a:prstGeom>
          <a:noFill/>
          <a:ln w="12700" cap="flat" cmpd="sng" algn="ctr">
            <a:solidFill>
              <a:srgbClr val="3D506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>
                <a:solidFill>
                  <a:srgbClr val="E8ECF1"/>
                </a:solidFill>
              </a:rPr>
              <a:t>01   </a:t>
            </a:r>
            <a:r>
              <a:rPr lang="ko-KR" altLang="en-US" sz="1500">
                <a:solidFill>
                  <a:srgbClr val="E8ECF1"/>
                </a:solidFill>
              </a:rPr>
              <a:t>계약서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861AA-861E-8043-AA8A-7EAA38B20F4E}"/>
              </a:ext>
            </a:extLst>
          </p:cNvPr>
          <p:cNvSpPr txBox="1"/>
          <p:nvPr/>
        </p:nvSpPr>
        <p:spPr>
          <a:xfrm>
            <a:off x="3352800" y="4902200"/>
            <a:ext cx="20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8A7247"/>
                </a:solidFill>
              </a:rPr>
              <a:t>›</a:t>
            </a:r>
            <a:endParaRPr lang="ko-KR" altLang="en-US">
              <a:solidFill>
                <a:srgbClr val="8A7247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99149A-E086-E845-88A0-10AC321F7AC8}"/>
              </a:ext>
            </a:extLst>
          </p:cNvPr>
          <p:cNvSpPr/>
          <p:nvPr/>
        </p:nvSpPr>
        <p:spPr>
          <a:xfrm>
            <a:off x="3556000" y="4724400"/>
            <a:ext cx="2438400" cy="711200"/>
          </a:xfrm>
          <a:prstGeom prst="rect">
            <a:avLst/>
          </a:prstGeom>
          <a:noFill/>
          <a:ln w="12700" cap="flat" cmpd="sng" algn="ctr">
            <a:solidFill>
              <a:srgbClr val="3D506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>
                <a:solidFill>
                  <a:srgbClr val="E8ECF1"/>
                </a:solidFill>
              </a:rPr>
              <a:t>02   </a:t>
            </a:r>
            <a:r>
              <a:rPr lang="ko-KR" altLang="en-US" sz="1500">
                <a:solidFill>
                  <a:srgbClr val="E8ECF1"/>
                </a:solidFill>
              </a:rPr>
              <a:t>스타일 컨설팅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F8BB96-1228-054F-9AB8-1C350A9337EA}"/>
              </a:ext>
            </a:extLst>
          </p:cNvPr>
          <p:cNvSpPr txBox="1"/>
          <p:nvPr/>
        </p:nvSpPr>
        <p:spPr>
          <a:xfrm>
            <a:off x="5994400" y="4902200"/>
            <a:ext cx="20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8A7247"/>
                </a:solidFill>
              </a:rPr>
              <a:t>›</a:t>
            </a:r>
            <a:endParaRPr lang="ko-KR" altLang="en-US">
              <a:solidFill>
                <a:srgbClr val="8A7247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97CA77-8A20-4C4A-922C-1C7B7A2CE149}"/>
              </a:ext>
            </a:extLst>
          </p:cNvPr>
          <p:cNvSpPr/>
          <p:nvPr/>
        </p:nvSpPr>
        <p:spPr>
          <a:xfrm>
            <a:off x="6197600" y="4724400"/>
            <a:ext cx="2438400" cy="711200"/>
          </a:xfrm>
          <a:prstGeom prst="rect">
            <a:avLst/>
          </a:prstGeom>
          <a:noFill/>
          <a:ln w="12700" cap="flat" cmpd="sng" algn="ctr">
            <a:solidFill>
              <a:srgbClr val="3D506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>
                <a:solidFill>
                  <a:srgbClr val="E8ECF1"/>
                </a:solidFill>
              </a:rPr>
              <a:t>03   </a:t>
            </a:r>
            <a:r>
              <a:rPr lang="ko-KR" altLang="en-US" sz="1500">
                <a:solidFill>
                  <a:srgbClr val="E8ECF1"/>
                </a:solidFill>
              </a:rPr>
              <a:t>채촌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DC193-3828-5F47-AA72-80800A5847EF}"/>
              </a:ext>
            </a:extLst>
          </p:cNvPr>
          <p:cNvSpPr txBox="1"/>
          <p:nvPr/>
        </p:nvSpPr>
        <p:spPr>
          <a:xfrm>
            <a:off x="8636000" y="4902200"/>
            <a:ext cx="20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>
                <a:solidFill>
                  <a:srgbClr val="8A7247"/>
                </a:solidFill>
              </a:rPr>
              <a:t>›</a:t>
            </a:r>
            <a:endParaRPr lang="ko-KR" altLang="en-US">
              <a:solidFill>
                <a:srgbClr val="8A7247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359ABF-ED53-C34B-83EA-F9004A553642}"/>
              </a:ext>
            </a:extLst>
          </p:cNvPr>
          <p:cNvSpPr/>
          <p:nvPr/>
        </p:nvSpPr>
        <p:spPr>
          <a:xfrm>
            <a:off x="8839200" y="4724400"/>
            <a:ext cx="2438400" cy="711200"/>
          </a:xfrm>
          <a:prstGeom prst="rect">
            <a:avLst/>
          </a:prstGeom>
          <a:noFill/>
          <a:ln w="12700" cap="flat" cmpd="sng" algn="ctr">
            <a:solidFill>
              <a:srgbClr val="3D506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>
                <a:solidFill>
                  <a:srgbClr val="E8ECF1"/>
                </a:solidFill>
              </a:rPr>
              <a:t>04   </a:t>
            </a:r>
            <a:r>
              <a:rPr lang="ko-KR" altLang="en-US" sz="1500">
                <a:solidFill>
                  <a:srgbClr val="E8ECF1"/>
                </a:solidFill>
              </a:rPr>
              <a:t>작업 관리</a:t>
            </a:r>
          </a:p>
        </p:txBody>
      </p:sp>
    </p:spTree>
    <p:extLst>
      <p:ext uri="{BB962C8B-B14F-4D97-AF65-F5344CB8AC3E}">
        <p14:creationId xmlns:p14="http://schemas.microsoft.com/office/powerpoint/2010/main" val="380713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9D6FD-4423-6F86-1DAE-74196D2F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668000" cy="533400"/>
          </a:xfrm>
        </p:spPr>
        <p:txBody>
          <a:bodyPr/>
          <a:lstStyle/>
          <a:p>
            <a:r>
              <a:rPr kumimoji="1" lang="ko-KR" altLang="en-US"/>
              <a:t>전체 업무 흐름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09187-9605-144E-B82A-8DD494D1E54D}"/>
              </a:ext>
            </a:extLst>
          </p:cNvPr>
          <p:cNvSpPr txBox="1"/>
          <p:nvPr/>
        </p:nvSpPr>
        <p:spPr>
          <a:xfrm>
            <a:off x="762000" y="12446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33383F"/>
                </a:solidFill>
              </a:rPr>
              <a:t>계약서 상태가 ‘지금 할 수 있는 일’을 결정하고</a:t>
            </a:r>
            <a:r>
              <a:rPr lang="en-US" altLang="ko-KR" sz="1600">
                <a:solidFill>
                  <a:srgbClr val="33383F"/>
                </a:solidFill>
              </a:rPr>
              <a:t>, </a:t>
            </a:r>
            <a:r>
              <a:rPr lang="ko-KR" altLang="en-US" sz="1600">
                <a:solidFill>
                  <a:srgbClr val="33383F"/>
                </a:solidFill>
              </a:rPr>
              <a:t>하위 메뉴의 완료가 상태를 앞으로 밀어줍니다</a:t>
            </a:r>
            <a:r>
              <a:rPr lang="en-US" altLang="ko-KR" sz="1600">
                <a:solidFill>
                  <a:srgbClr val="33383F"/>
                </a:solidFill>
              </a:rPr>
              <a:t>.</a:t>
            </a:r>
            <a:endParaRPr lang="ko-KR" altLang="en-US" sz="1600">
              <a:solidFill>
                <a:srgbClr val="33383F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E67A69-C61E-904B-B5E1-BC2EF361FF2F}"/>
              </a:ext>
            </a:extLst>
          </p:cNvPr>
          <p:cNvSpPr/>
          <p:nvPr/>
        </p:nvSpPr>
        <p:spPr>
          <a:xfrm>
            <a:off x="762000" y="1778000"/>
            <a:ext cx="3200400" cy="1219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22B3B8-5410-6649-A74C-CDF7B4B10D6A}"/>
              </a:ext>
            </a:extLst>
          </p:cNvPr>
          <p:cNvSpPr/>
          <p:nvPr/>
        </p:nvSpPr>
        <p:spPr>
          <a:xfrm>
            <a:off x="762000" y="1778000"/>
            <a:ext cx="3200400" cy="38100"/>
          </a:xfrm>
          <a:prstGeom prst="rect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B501C-18A3-C34F-B4D4-844D7C4C3926}"/>
              </a:ext>
            </a:extLst>
          </p:cNvPr>
          <p:cNvSpPr txBox="1"/>
          <p:nvPr/>
        </p:nvSpPr>
        <p:spPr>
          <a:xfrm>
            <a:off x="990600" y="1955800"/>
            <a:ext cx="274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작성중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2E8FA-9654-664C-8A33-75024D3DA1BB}"/>
              </a:ext>
            </a:extLst>
          </p:cNvPr>
          <p:cNvSpPr txBox="1"/>
          <p:nvPr/>
        </p:nvSpPr>
        <p:spPr>
          <a:xfrm>
            <a:off x="990600" y="2336800"/>
            <a:ext cx="2743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임시저장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실제 작업 단계
컨설팅과 채촌은 여기서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629119-1B0B-6A4D-9EF5-CB02BA598E13}"/>
              </a:ext>
            </a:extLst>
          </p:cNvPr>
          <p:cNvSpPr txBox="1"/>
          <p:nvPr/>
        </p:nvSpPr>
        <p:spPr>
          <a:xfrm>
            <a:off x="4064000" y="2184400"/>
            <a:ext cx="330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B08D57"/>
                </a:solidFill>
              </a:rPr>
              <a:t>›</a:t>
            </a:r>
            <a:endParaRPr lang="ko-KR" altLang="en-US" sz="2200">
              <a:solidFill>
                <a:srgbClr val="B08D57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91B8FE-A5AD-0C4B-AA5B-2F8261165E91}"/>
              </a:ext>
            </a:extLst>
          </p:cNvPr>
          <p:cNvSpPr/>
          <p:nvPr/>
        </p:nvSpPr>
        <p:spPr>
          <a:xfrm>
            <a:off x="4495800" y="1778000"/>
            <a:ext cx="3200400" cy="1219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99002F-332D-E54E-8074-0ADBD7B1EA5B}"/>
              </a:ext>
            </a:extLst>
          </p:cNvPr>
          <p:cNvSpPr/>
          <p:nvPr/>
        </p:nvSpPr>
        <p:spPr>
          <a:xfrm>
            <a:off x="4495800" y="1778000"/>
            <a:ext cx="3200400" cy="38100"/>
          </a:xfrm>
          <a:prstGeom prst="rect">
            <a:avLst/>
          </a:prstGeom>
          <a:solidFill>
            <a:srgbClr val="2C4A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07530B-6C98-7848-8B45-592B032EE02C}"/>
              </a:ext>
            </a:extLst>
          </p:cNvPr>
          <p:cNvSpPr txBox="1"/>
          <p:nvPr/>
        </p:nvSpPr>
        <p:spPr>
          <a:xfrm>
            <a:off x="4724400" y="1955800"/>
            <a:ext cx="274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서명완료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906529-1208-774B-A5CE-1A1EA57CB0C4}"/>
              </a:ext>
            </a:extLst>
          </p:cNvPr>
          <p:cNvSpPr txBox="1"/>
          <p:nvPr/>
        </p:nvSpPr>
        <p:spPr>
          <a:xfrm>
            <a:off x="4724400" y="2336800"/>
            <a:ext cx="2743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전자서명 완료
컨설팅 잠김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채촌은 계속 입력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313E5-FBC2-A746-A78F-C4EAE0E7B678}"/>
              </a:ext>
            </a:extLst>
          </p:cNvPr>
          <p:cNvSpPr txBox="1"/>
          <p:nvPr/>
        </p:nvSpPr>
        <p:spPr>
          <a:xfrm>
            <a:off x="7797800" y="2184400"/>
            <a:ext cx="330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200">
                <a:solidFill>
                  <a:srgbClr val="B08D57"/>
                </a:solidFill>
              </a:rPr>
              <a:t>›</a:t>
            </a:r>
            <a:endParaRPr lang="ko-KR" altLang="en-US" sz="2200">
              <a:solidFill>
                <a:srgbClr val="B08D57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57CF65-95BC-934B-ABB8-8F4744BAB931}"/>
              </a:ext>
            </a:extLst>
          </p:cNvPr>
          <p:cNvSpPr/>
          <p:nvPr/>
        </p:nvSpPr>
        <p:spPr>
          <a:xfrm>
            <a:off x="8229600" y="1778000"/>
            <a:ext cx="3200400" cy="1219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14891A-59B0-B74C-9532-3320A1F80A09}"/>
              </a:ext>
            </a:extLst>
          </p:cNvPr>
          <p:cNvSpPr/>
          <p:nvPr/>
        </p:nvSpPr>
        <p:spPr>
          <a:xfrm>
            <a:off x="8229600" y="1778000"/>
            <a:ext cx="3200400" cy="38100"/>
          </a:xfrm>
          <a:prstGeom prst="rect">
            <a:avLst/>
          </a:prstGeom>
          <a:solidFill>
            <a:srgbClr val="3E7C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23D8A0-8BA8-704F-9CAA-6D3D151EEF32}"/>
              </a:ext>
            </a:extLst>
          </p:cNvPr>
          <p:cNvSpPr txBox="1"/>
          <p:nvPr/>
        </p:nvSpPr>
        <p:spPr>
          <a:xfrm>
            <a:off x="8458200" y="1955800"/>
            <a:ext cx="274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계약완료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8B9D35-9F9F-4841-AD3E-10024038EB63}"/>
              </a:ext>
            </a:extLst>
          </p:cNvPr>
          <p:cNvSpPr txBox="1"/>
          <p:nvPr/>
        </p:nvSpPr>
        <p:spPr>
          <a:xfrm>
            <a:off x="8458200" y="2336800"/>
            <a:ext cx="2743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주문 생성 완료
작업 관리</a:t>
            </a:r>
            <a:r>
              <a:rPr lang="en-US" altLang="ko-KR" sz="1400">
                <a:solidFill>
                  <a:srgbClr val="6E7B8B"/>
                </a:solidFill>
              </a:rPr>
              <a:t>(</a:t>
            </a:r>
            <a:r>
              <a:rPr lang="ko-KR" altLang="en-US" sz="1400">
                <a:solidFill>
                  <a:srgbClr val="6E7B8B"/>
                </a:solidFill>
              </a:rPr>
              <a:t>발주</a:t>
            </a:r>
            <a:r>
              <a:rPr lang="en-US" altLang="ko-KR" sz="1400">
                <a:solidFill>
                  <a:srgbClr val="6E7B8B"/>
                </a:solidFill>
              </a:rPr>
              <a:t>) </a:t>
            </a:r>
            <a:r>
              <a:rPr lang="ko-KR" altLang="en-US" sz="1400">
                <a:solidFill>
                  <a:srgbClr val="6E7B8B"/>
                </a:solidFill>
              </a:rPr>
              <a:t>시작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FA4F4-F20C-1644-AD5E-0BA3820E6DA8}"/>
              </a:ext>
            </a:extLst>
          </p:cNvPr>
          <p:cNvSpPr txBox="1"/>
          <p:nvPr/>
        </p:nvSpPr>
        <p:spPr>
          <a:xfrm>
            <a:off x="762000" y="3429000"/>
            <a:ext cx="289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계약서 상태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FF9D98-8998-0846-B399-2FD929AAE275}"/>
              </a:ext>
            </a:extLst>
          </p:cNvPr>
          <p:cNvSpPr txBox="1"/>
          <p:nvPr/>
        </p:nvSpPr>
        <p:spPr>
          <a:xfrm>
            <a:off x="3657600" y="34290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스타일 컨설팅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060EA-2FF6-B14D-80A0-C603FAFDEB78}"/>
              </a:ext>
            </a:extLst>
          </p:cNvPr>
          <p:cNvSpPr txBox="1"/>
          <p:nvPr/>
        </p:nvSpPr>
        <p:spPr>
          <a:xfrm>
            <a:off x="6324600" y="34290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채촌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BD98C2-AA35-7640-A5A9-C5DB78EC0444}"/>
              </a:ext>
            </a:extLst>
          </p:cNvPr>
          <p:cNvSpPr txBox="1"/>
          <p:nvPr/>
        </p:nvSpPr>
        <p:spPr>
          <a:xfrm>
            <a:off x="8991600" y="3429000"/>
            <a:ext cx="2438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작업 관리 </a:t>
            </a:r>
            <a:r>
              <a:rPr lang="en-US" altLang="ko-KR" sz="1400" b="1">
                <a:solidFill>
                  <a:srgbClr val="16283C"/>
                </a:solidFill>
              </a:rPr>
              <a:t>(</a:t>
            </a:r>
            <a:r>
              <a:rPr lang="ko-KR" altLang="en-US" sz="1400" b="1">
                <a:solidFill>
                  <a:srgbClr val="16283C"/>
                </a:solidFill>
              </a:rPr>
              <a:t>발주</a:t>
            </a:r>
            <a:r>
              <a:rPr lang="en-US" altLang="ko-KR" sz="1400" b="1">
                <a:solidFill>
                  <a:srgbClr val="16283C"/>
                </a:solidFill>
              </a:rPr>
              <a:t>)</a:t>
            </a:r>
            <a:endParaRPr lang="ko-KR" altLang="en-US" sz="1400" b="1">
              <a:solidFill>
                <a:srgbClr val="16283C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C9703D-2694-5B4E-B838-F57A94FB514A}"/>
              </a:ext>
            </a:extLst>
          </p:cNvPr>
          <p:cNvSpPr/>
          <p:nvPr/>
        </p:nvSpPr>
        <p:spPr>
          <a:xfrm>
            <a:off x="762000" y="3784600"/>
            <a:ext cx="10668000" cy="20320"/>
          </a:xfrm>
          <a:prstGeom prst="rect">
            <a:avLst/>
          </a:prstGeom>
          <a:solidFill>
            <a:srgbClr val="1628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4FA3515-18F7-DF42-894E-F64E9137EAF1}"/>
              </a:ext>
            </a:extLst>
          </p:cNvPr>
          <p:cNvSpPr/>
          <p:nvPr/>
        </p:nvSpPr>
        <p:spPr>
          <a:xfrm>
            <a:off x="787400" y="4038600"/>
            <a:ext cx="127000" cy="1270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1A3BB3-FCFC-4F47-8A8D-CA802A5FB41F}"/>
              </a:ext>
            </a:extLst>
          </p:cNvPr>
          <p:cNvSpPr txBox="1"/>
          <p:nvPr/>
        </p:nvSpPr>
        <p:spPr>
          <a:xfrm>
            <a:off x="1041400" y="39624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작성중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C415E9-C0A2-D441-A9FC-060908FCD423}"/>
              </a:ext>
            </a:extLst>
          </p:cNvPr>
          <p:cNvSpPr txBox="1"/>
          <p:nvPr/>
        </p:nvSpPr>
        <p:spPr>
          <a:xfrm>
            <a:off x="3657600" y="39624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편집 가능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45FE9A-76FE-1041-AD26-038B97E635D0}"/>
              </a:ext>
            </a:extLst>
          </p:cNvPr>
          <p:cNvSpPr txBox="1"/>
          <p:nvPr/>
        </p:nvSpPr>
        <p:spPr>
          <a:xfrm>
            <a:off x="6324600" y="39624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편집 가능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3EA255-B6FB-E74E-A425-64A805423B1C}"/>
              </a:ext>
            </a:extLst>
          </p:cNvPr>
          <p:cNvSpPr txBox="1"/>
          <p:nvPr/>
        </p:nvSpPr>
        <p:spPr>
          <a:xfrm>
            <a:off x="8991600" y="3962400"/>
            <a:ext cx="2438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dirty="0">
                <a:solidFill>
                  <a:srgbClr val="A9AFB6"/>
                </a:solidFill>
              </a:rPr>
              <a:t>— </a:t>
            </a:r>
            <a:r>
              <a:rPr lang="ko-KR" altLang="en-US" sz="1400" dirty="0">
                <a:solidFill>
                  <a:srgbClr val="A9AFB6"/>
                </a:solidFill>
              </a:rPr>
              <a:t>사용 불가 </a:t>
            </a:r>
            <a:r>
              <a:rPr lang="en-US" altLang="ko-KR" sz="1400" dirty="0">
                <a:solidFill>
                  <a:srgbClr val="A9AFB6"/>
                </a:solidFill>
              </a:rPr>
              <a:t>(</a:t>
            </a:r>
            <a:r>
              <a:rPr lang="ko-KR" altLang="en-US" sz="1400" dirty="0">
                <a:solidFill>
                  <a:srgbClr val="A9AFB6"/>
                </a:solidFill>
              </a:rPr>
              <a:t>주문 없음</a:t>
            </a:r>
            <a:r>
              <a:rPr lang="en-US" altLang="ko-KR" sz="1400" dirty="0">
                <a:solidFill>
                  <a:srgbClr val="A9AFB6"/>
                </a:solidFill>
              </a:rPr>
              <a:t>)</a:t>
            </a:r>
            <a:endParaRPr lang="ko-KR" altLang="en-US" sz="1400" dirty="0">
              <a:solidFill>
                <a:srgbClr val="A9AFB6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CC2DAD4-B4CB-1544-A691-3E8E92E7AB6D}"/>
              </a:ext>
            </a:extLst>
          </p:cNvPr>
          <p:cNvSpPr/>
          <p:nvPr/>
        </p:nvSpPr>
        <p:spPr>
          <a:xfrm>
            <a:off x="762000" y="4394200"/>
            <a:ext cx="106680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D64E4D6-624E-D64A-A733-17B91BC63EE5}"/>
              </a:ext>
            </a:extLst>
          </p:cNvPr>
          <p:cNvSpPr/>
          <p:nvPr/>
        </p:nvSpPr>
        <p:spPr>
          <a:xfrm>
            <a:off x="787400" y="4622800"/>
            <a:ext cx="127000" cy="127000"/>
          </a:xfrm>
          <a:prstGeom prst="ellipse">
            <a:avLst/>
          </a:prstGeom>
          <a:solidFill>
            <a:srgbClr val="2C4A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30F041-1660-F841-A06B-97EEF3DA7FFC}"/>
              </a:ext>
            </a:extLst>
          </p:cNvPr>
          <p:cNvSpPr txBox="1"/>
          <p:nvPr/>
        </p:nvSpPr>
        <p:spPr>
          <a:xfrm>
            <a:off x="1041400" y="45466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서명완료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07D69-DA47-C740-967A-E98376298AE0}"/>
              </a:ext>
            </a:extLst>
          </p:cNvPr>
          <p:cNvSpPr txBox="1"/>
          <p:nvPr/>
        </p:nvSpPr>
        <p:spPr>
          <a:xfrm>
            <a:off x="3657600" y="45466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보기 전용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569D80-596E-B846-B71C-594C3691F6A8}"/>
              </a:ext>
            </a:extLst>
          </p:cNvPr>
          <p:cNvSpPr txBox="1"/>
          <p:nvPr/>
        </p:nvSpPr>
        <p:spPr>
          <a:xfrm>
            <a:off x="6324600" y="45466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편집 가능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190B5F-5789-8E4E-BC7B-9BB6EF577C14}"/>
              </a:ext>
            </a:extLst>
          </p:cNvPr>
          <p:cNvSpPr txBox="1"/>
          <p:nvPr/>
        </p:nvSpPr>
        <p:spPr>
          <a:xfrm>
            <a:off x="8991600" y="4546600"/>
            <a:ext cx="2438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A9AFB6"/>
                </a:solidFill>
              </a:rPr>
              <a:t>— </a:t>
            </a:r>
            <a:r>
              <a:rPr lang="ko-KR" altLang="en-US" sz="1400">
                <a:solidFill>
                  <a:srgbClr val="A9AFB6"/>
                </a:solidFill>
              </a:rPr>
              <a:t>사용 불가 </a:t>
            </a:r>
            <a:r>
              <a:rPr lang="en-US" altLang="ko-KR" sz="1400">
                <a:solidFill>
                  <a:srgbClr val="A9AFB6"/>
                </a:solidFill>
              </a:rPr>
              <a:t>(</a:t>
            </a:r>
            <a:r>
              <a:rPr lang="ko-KR" altLang="en-US" sz="1400">
                <a:solidFill>
                  <a:srgbClr val="A9AFB6"/>
                </a:solidFill>
              </a:rPr>
              <a:t>주문 없음</a:t>
            </a:r>
            <a:r>
              <a:rPr lang="en-US" altLang="ko-KR" sz="1400">
                <a:solidFill>
                  <a:srgbClr val="A9AFB6"/>
                </a:solidFill>
              </a:rPr>
              <a:t>)</a:t>
            </a:r>
            <a:endParaRPr lang="ko-KR" altLang="en-US" sz="1400">
              <a:solidFill>
                <a:srgbClr val="A9AFB6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8FE0F8E-E5CC-9249-9474-3D86EAFA5CCB}"/>
              </a:ext>
            </a:extLst>
          </p:cNvPr>
          <p:cNvSpPr/>
          <p:nvPr/>
        </p:nvSpPr>
        <p:spPr>
          <a:xfrm>
            <a:off x="762000" y="4978400"/>
            <a:ext cx="106680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5380481-B611-7440-B60D-E2A869C4712D}"/>
              </a:ext>
            </a:extLst>
          </p:cNvPr>
          <p:cNvSpPr/>
          <p:nvPr/>
        </p:nvSpPr>
        <p:spPr>
          <a:xfrm>
            <a:off x="787400" y="5207000"/>
            <a:ext cx="127000" cy="127000"/>
          </a:xfrm>
          <a:prstGeom prst="ellipse">
            <a:avLst/>
          </a:prstGeom>
          <a:solidFill>
            <a:srgbClr val="3E7C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25EC03-71EC-F649-A804-188DD46A6ABB}"/>
              </a:ext>
            </a:extLst>
          </p:cNvPr>
          <p:cNvSpPr txBox="1"/>
          <p:nvPr/>
        </p:nvSpPr>
        <p:spPr>
          <a:xfrm>
            <a:off x="1041400" y="5130800"/>
            <a:ext cx="2616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계약완료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07ABB-43CF-CD43-BEC8-6C1EB62134CE}"/>
              </a:ext>
            </a:extLst>
          </p:cNvPr>
          <p:cNvSpPr txBox="1"/>
          <p:nvPr/>
        </p:nvSpPr>
        <p:spPr>
          <a:xfrm>
            <a:off x="3657600" y="51308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보기 전용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27BE68-86C3-3441-BE56-A2240A34837E}"/>
              </a:ext>
            </a:extLst>
          </p:cNvPr>
          <p:cNvSpPr txBox="1"/>
          <p:nvPr/>
        </p:nvSpPr>
        <p:spPr>
          <a:xfrm>
            <a:off x="6324600" y="51308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연결분 잠김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신규 가능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B4A8F-8B6C-6A4F-A31A-AD6F7557257C}"/>
              </a:ext>
            </a:extLst>
          </p:cNvPr>
          <p:cNvSpPr txBox="1"/>
          <p:nvPr/>
        </p:nvSpPr>
        <p:spPr>
          <a:xfrm>
            <a:off x="8991600" y="5130800"/>
            <a:ext cx="2438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2C4A6E"/>
                </a:solidFill>
              </a:rPr>
              <a:t>발주 진행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3E5068E-78FE-FC4C-BE14-A823D648009F}"/>
              </a:ext>
            </a:extLst>
          </p:cNvPr>
          <p:cNvSpPr/>
          <p:nvPr/>
        </p:nvSpPr>
        <p:spPr>
          <a:xfrm>
            <a:off x="762000" y="5562600"/>
            <a:ext cx="106680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5D86A9-62A3-1C4C-B2B2-3298E9009E22}"/>
              </a:ext>
            </a:extLst>
          </p:cNvPr>
          <p:cNvSpPr txBox="1"/>
          <p:nvPr/>
        </p:nvSpPr>
        <p:spPr>
          <a:xfrm>
            <a:off x="762000" y="591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앞 단계가 끝나야 다음 메뉴가 열리며</a:t>
            </a:r>
            <a:r>
              <a:rPr lang="en-US" altLang="ko-KR" sz="1400">
                <a:solidFill>
                  <a:srgbClr val="6E7B8B"/>
                </a:solidFill>
              </a:rPr>
              <a:t>, </a:t>
            </a:r>
            <a:r>
              <a:rPr lang="ko-KR" altLang="en-US" sz="1400">
                <a:solidFill>
                  <a:srgbClr val="6E7B8B"/>
                </a:solidFill>
              </a:rPr>
              <a:t>완료된 채촌</a:t>
            </a:r>
            <a:r>
              <a:rPr lang="en-US" altLang="ko-KR" sz="1400">
                <a:solidFill>
                  <a:srgbClr val="6E7B8B"/>
                </a:solidFill>
              </a:rPr>
              <a:t>(</a:t>
            </a:r>
            <a:r>
              <a:rPr lang="ko-KR" altLang="en-US" sz="1400">
                <a:solidFill>
                  <a:srgbClr val="6E7B8B"/>
                </a:solidFill>
              </a:rPr>
              <a:t>값 입력</a:t>
            </a:r>
            <a:r>
              <a:rPr lang="en-US" altLang="ko-KR" sz="1400">
                <a:solidFill>
                  <a:srgbClr val="6E7B8B"/>
                </a:solidFill>
              </a:rPr>
              <a:t>)</a:t>
            </a:r>
            <a:r>
              <a:rPr lang="ko-KR" altLang="en-US" sz="1400">
                <a:solidFill>
                  <a:srgbClr val="6E7B8B"/>
                </a:solidFill>
              </a:rPr>
              <a:t>이 연결되어야 발주가 가능합니다</a:t>
            </a:r>
            <a:r>
              <a:rPr lang="en-US" altLang="ko-KR" sz="1400">
                <a:solidFill>
                  <a:srgbClr val="6E7B8B"/>
                </a:solidFill>
              </a:rPr>
              <a:t>.</a:t>
            </a:r>
            <a:endParaRPr lang="ko-KR" altLang="en-US" sz="1400">
              <a:solidFill>
                <a:srgbClr val="6E7B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40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A5A32-03E1-91A6-4DD0-638B076A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668000" cy="533400"/>
          </a:xfrm>
        </p:spPr>
        <p:txBody>
          <a:bodyPr/>
          <a:lstStyle/>
          <a:p>
            <a:r>
              <a:rPr kumimoji="1" lang="ko-KR" altLang="en-US" dirty="0"/>
              <a:t>진행 </a:t>
            </a:r>
            <a:r>
              <a:rPr kumimoji="1" lang="en-US" altLang="ko-KR" dirty="0"/>
              <a:t>5</a:t>
            </a:r>
            <a:r>
              <a:rPr kumimoji="1" lang="ko-KR" altLang="en-US" dirty="0"/>
              <a:t>단계 </a:t>
            </a:r>
            <a:r>
              <a:rPr lang="en-US" altLang="ko-KR" dirty="0">
                <a:solidFill>
                  <a:srgbClr val="33383F"/>
                </a:solidFill>
              </a:rPr>
              <a:t>-</a:t>
            </a:r>
            <a:r>
              <a:rPr kumimoji="1" lang="en-US" altLang="ko-KR" dirty="0"/>
              <a:t> </a:t>
            </a:r>
            <a:r>
              <a:rPr kumimoji="1" lang="ko-KR" altLang="en-US" dirty="0"/>
              <a:t>무엇을 하면 다음이 열리는가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998B8F-5218-FE44-80DB-449556BE0C2B}"/>
              </a:ext>
            </a:extLst>
          </p:cNvPr>
          <p:cNvSpPr/>
          <p:nvPr/>
        </p:nvSpPr>
        <p:spPr>
          <a:xfrm>
            <a:off x="1270000" y="2400300"/>
            <a:ext cx="9652000" cy="15240"/>
          </a:xfrm>
          <a:prstGeom prst="rect">
            <a:avLst/>
          </a:prstGeom>
          <a:solidFill>
            <a:srgbClr val="D8D0C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C256F9E-A482-2941-8CDD-CAB7E11AA9BB}"/>
              </a:ext>
            </a:extLst>
          </p:cNvPr>
          <p:cNvSpPr/>
          <p:nvPr/>
        </p:nvSpPr>
        <p:spPr>
          <a:xfrm>
            <a:off x="1600200" y="2184400"/>
            <a:ext cx="457200" cy="457200"/>
          </a:xfrm>
          <a:prstGeom prst="ellipse">
            <a:avLst/>
          </a:prstGeom>
          <a:solidFill>
            <a:srgbClr val="8A6D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72114-7B5E-2141-A893-4D2938FF79BB}"/>
              </a:ext>
            </a:extLst>
          </p:cNvPr>
          <p:cNvSpPr txBox="1"/>
          <p:nvPr/>
        </p:nvSpPr>
        <p:spPr>
          <a:xfrm>
            <a:off x="762000" y="17526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계약서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133C0-2EC4-0847-B506-B17022C7DF8C}"/>
              </a:ext>
            </a:extLst>
          </p:cNvPr>
          <p:cNvSpPr txBox="1"/>
          <p:nvPr/>
        </p:nvSpPr>
        <p:spPr>
          <a:xfrm>
            <a:off x="762000" y="2819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고객</a:t>
            </a:r>
            <a:r>
              <a:rPr lang="en-US" altLang="ko-KR" sz="1400">
                <a:solidFill>
                  <a:srgbClr val="6E7B8B"/>
                </a:solidFill>
              </a:rPr>
              <a:t>·</a:t>
            </a:r>
            <a:r>
              <a:rPr lang="ko-KR" altLang="en-US" sz="1400">
                <a:solidFill>
                  <a:srgbClr val="6E7B8B"/>
                </a:solidFill>
              </a:rPr>
              <a:t>계약구분</a:t>
            </a:r>
            <a:r>
              <a:rPr lang="en-US" altLang="ko-KR" sz="1400">
                <a:solidFill>
                  <a:srgbClr val="6E7B8B"/>
                </a:solidFill>
              </a:rPr>
              <a:t>·</a:t>
            </a:r>
            <a:r>
              <a:rPr lang="ko-KR" altLang="en-US" sz="1400">
                <a:solidFill>
                  <a:srgbClr val="6E7B8B"/>
                </a:solidFill>
              </a:rPr>
              <a:t>품목 입력
후 임시저장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667E7-4AB0-6446-9E48-66B2E78E8AEC}"/>
              </a:ext>
            </a:extLst>
          </p:cNvPr>
          <p:cNvSpPr txBox="1"/>
          <p:nvPr/>
        </p:nvSpPr>
        <p:spPr>
          <a:xfrm>
            <a:off x="762000" y="35052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컨설팅</a:t>
            </a:r>
            <a:r>
              <a:rPr lang="en-US" altLang="ko-KR" sz="1400" b="1">
                <a:solidFill>
                  <a:srgbClr val="8A6D3B"/>
                </a:solidFill>
              </a:rPr>
              <a:t>·</a:t>
            </a:r>
            <a:r>
              <a:rPr lang="ko-KR" altLang="en-US" sz="1400" b="1">
                <a:solidFill>
                  <a:srgbClr val="8A6D3B"/>
                </a:solidFill>
              </a:rPr>
              <a:t>채촌 메뉴 열림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1681666-7190-AC42-8248-6192DAE7F652}"/>
              </a:ext>
            </a:extLst>
          </p:cNvPr>
          <p:cNvSpPr/>
          <p:nvPr/>
        </p:nvSpPr>
        <p:spPr>
          <a:xfrm>
            <a:off x="3733800" y="2184400"/>
            <a:ext cx="457200" cy="457200"/>
          </a:xfrm>
          <a:prstGeom prst="ellipse">
            <a:avLst/>
          </a:prstGeom>
          <a:solidFill>
            <a:srgbClr val="8A6D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2B582-0388-2348-92EF-2CEDB602003E}"/>
              </a:ext>
            </a:extLst>
          </p:cNvPr>
          <p:cNvSpPr txBox="1"/>
          <p:nvPr/>
        </p:nvSpPr>
        <p:spPr>
          <a:xfrm>
            <a:off x="2895600" y="17526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스타일 컨설팅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C1C9D4-7BBD-614B-B91E-F7CD85309B55}"/>
              </a:ext>
            </a:extLst>
          </p:cNvPr>
          <p:cNvSpPr txBox="1"/>
          <p:nvPr/>
        </p:nvSpPr>
        <p:spPr>
          <a:xfrm>
            <a:off x="2895600" y="2819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맞춤은 옵션 확정
렌탈은 실물 지정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3D295-2A71-7A44-9DFB-AC3F52E721C7}"/>
              </a:ext>
            </a:extLst>
          </p:cNvPr>
          <p:cNvSpPr txBox="1"/>
          <p:nvPr/>
        </p:nvSpPr>
        <p:spPr>
          <a:xfrm>
            <a:off x="2895600" y="35052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모두 확정 → </a:t>
            </a:r>
            <a:r>
              <a:rPr lang="en-US" altLang="ko-KR" sz="1400" b="1">
                <a:solidFill>
                  <a:srgbClr val="8A6D3B"/>
                </a:solidFill>
              </a:rPr>
              <a:t>[</a:t>
            </a:r>
            <a:r>
              <a:rPr lang="ko-KR" altLang="en-US" sz="1400" b="1">
                <a:solidFill>
                  <a:srgbClr val="8A6D3B"/>
                </a:solidFill>
              </a:rPr>
              <a:t>서명</a:t>
            </a:r>
            <a:r>
              <a:rPr lang="en-US" altLang="ko-KR" sz="1400" b="1">
                <a:solidFill>
                  <a:srgbClr val="8A6D3B"/>
                </a:solidFill>
              </a:rPr>
              <a:t>] </a:t>
            </a:r>
            <a:r>
              <a:rPr lang="ko-KR" altLang="en-US" sz="1400" b="1">
                <a:solidFill>
                  <a:srgbClr val="8A6D3B"/>
                </a:solidFill>
              </a:rPr>
              <a:t>활성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963F224-5B29-E34B-BB19-FF1720C188B2}"/>
              </a:ext>
            </a:extLst>
          </p:cNvPr>
          <p:cNvSpPr/>
          <p:nvPr/>
        </p:nvSpPr>
        <p:spPr>
          <a:xfrm>
            <a:off x="5867400" y="2184400"/>
            <a:ext cx="457200" cy="457200"/>
          </a:xfrm>
          <a:prstGeom prst="ellipse">
            <a:avLst/>
          </a:prstGeom>
          <a:solidFill>
            <a:srgbClr val="8A6D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3F6AF-5E03-1B4D-8DF5-21FAE0CB6AA1}"/>
              </a:ext>
            </a:extLst>
          </p:cNvPr>
          <p:cNvSpPr txBox="1"/>
          <p:nvPr/>
        </p:nvSpPr>
        <p:spPr>
          <a:xfrm>
            <a:off x="5029200" y="17526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서명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279A46-9795-5D47-9369-7C1150D749D3}"/>
              </a:ext>
            </a:extLst>
          </p:cNvPr>
          <p:cNvSpPr txBox="1"/>
          <p:nvPr/>
        </p:nvSpPr>
        <p:spPr>
          <a:xfrm>
            <a:off x="5029200" y="2819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전자서명으로
서명완료 전환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BAE43D-2C96-D34F-89A3-D63BA5AAA7BE}"/>
              </a:ext>
            </a:extLst>
          </p:cNvPr>
          <p:cNvSpPr txBox="1"/>
          <p:nvPr/>
        </p:nvSpPr>
        <p:spPr>
          <a:xfrm>
            <a:off x="5029200" y="35052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컨설팅 잠김 </a:t>
            </a:r>
            <a:r>
              <a:rPr lang="en-US" altLang="ko-KR" sz="1400" b="1">
                <a:solidFill>
                  <a:srgbClr val="8A6D3B"/>
                </a:solidFill>
              </a:rPr>
              <a:t>· </a:t>
            </a:r>
            <a:r>
              <a:rPr lang="ko-KR" altLang="en-US" sz="1400" b="1">
                <a:solidFill>
                  <a:srgbClr val="8A6D3B"/>
                </a:solidFill>
              </a:rPr>
              <a:t>채촌 계속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748666A-DE26-9843-AE7C-2D19661BF9A9}"/>
              </a:ext>
            </a:extLst>
          </p:cNvPr>
          <p:cNvSpPr/>
          <p:nvPr/>
        </p:nvSpPr>
        <p:spPr>
          <a:xfrm>
            <a:off x="8001000" y="2184400"/>
            <a:ext cx="457200" cy="457200"/>
          </a:xfrm>
          <a:prstGeom prst="ellipse">
            <a:avLst/>
          </a:prstGeom>
          <a:solidFill>
            <a:srgbClr val="8A6D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23DED8-3FE1-6046-A3B8-AB314770E369}"/>
              </a:ext>
            </a:extLst>
          </p:cNvPr>
          <p:cNvSpPr txBox="1"/>
          <p:nvPr/>
        </p:nvSpPr>
        <p:spPr>
          <a:xfrm>
            <a:off x="7162800" y="17526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계약완료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637897-1DE2-9B4D-9C82-BCEA2BBBC87D}"/>
              </a:ext>
            </a:extLst>
          </p:cNvPr>
          <p:cNvSpPr txBox="1"/>
          <p:nvPr/>
        </p:nvSpPr>
        <p:spPr>
          <a:xfrm>
            <a:off x="7162800" y="2819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주문 생성
채촌 자동 연결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ED4ABA-9DBF-B341-A24F-D09586C3170C}"/>
              </a:ext>
            </a:extLst>
          </p:cNvPr>
          <p:cNvSpPr txBox="1"/>
          <p:nvPr/>
        </p:nvSpPr>
        <p:spPr>
          <a:xfrm>
            <a:off x="7162800" y="35052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작업 관리</a:t>
            </a:r>
            <a:r>
              <a:rPr lang="en-US" altLang="ko-KR" sz="1400" b="1">
                <a:solidFill>
                  <a:srgbClr val="8A6D3B"/>
                </a:solidFill>
              </a:rPr>
              <a:t>(</a:t>
            </a:r>
            <a:r>
              <a:rPr lang="ko-KR" altLang="en-US" sz="1400" b="1">
                <a:solidFill>
                  <a:srgbClr val="8A6D3B"/>
                </a:solidFill>
              </a:rPr>
              <a:t>발주</a:t>
            </a:r>
            <a:r>
              <a:rPr lang="en-US" altLang="ko-KR" sz="1400" b="1">
                <a:solidFill>
                  <a:srgbClr val="8A6D3B"/>
                </a:solidFill>
              </a:rPr>
              <a:t>) </a:t>
            </a:r>
            <a:r>
              <a:rPr lang="ko-KR" altLang="en-US" sz="1400" b="1">
                <a:solidFill>
                  <a:srgbClr val="8A6D3B"/>
                </a:solidFill>
              </a:rPr>
              <a:t>열림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A8BCD57-971A-674B-9740-00AD8F0CF6E7}"/>
              </a:ext>
            </a:extLst>
          </p:cNvPr>
          <p:cNvSpPr/>
          <p:nvPr/>
        </p:nvSpPr>
        <p:spPr>
          <a:xfrm>
            <a:off x="10134600" y="2184400"/>
            <a:ext cx="457200" cy="457200"/>
          </a:xfrm>
          <a:prstGeom prst="ellipse">
            <a:avLst/>
          </a:prstGeom>
          <a:solidFill>
            <a:srgbClr val="8A6D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5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FBCDBC-B6A6-2749-A777-5C52C9EE1E1C}"/>
              </a:ext>
            </a:extLst>
          </p:cNvPr>
          <p:cNvSpPr txBox="1"/>
          <p:nvPr/>
        </p:nvSpPr>
        <p:spPr>
          <a:xfrm>
            <a:off x="9296400" y="1752600"/>
            <a:ext cx="213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발주</a:t>
            </a:r>
            <a:r>
              <a:rPr lang="en-US" altLang="ko-KR" sz="1600" b="1">
                <a:solidFill>
                  <a:srgbClr val="16283C"/>
                </a:solidFill>
              </a:rPr>
              <a:t>·</a:t>
            </a:r>
            <a:r>
              <a:rPr lang="ko-KR" altLang="en-US" sz="1600" b="1">
                <a:solidFill>
                  <a:srgbClr val="16283C"/>
                </a:solidFill>
              </a:rPr>
              <a:t>제작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06FDC-E023-174A-8C5B-1539ED00B34E}"/>
              </a:ext>
            </a:extLst>
          </p:cNvPr>
          <p:cNvSpPr txBox="1"/>
          <p:nvPr/>
        </p:nvSpPr>
        <p:spPr>
          <a:xfrm>
            <a:off x="9296400" y="2819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작업지시서 발행
제작 진행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1E478A-1679-9342-8164-B6DD23D83D4A}"/>
              </a:ext>
            </a:extLst>
          </p:cNvPr>
          <p:cNvSpPr txBox="1"/>
          <p:nvPr/>
        </p:nvSpPr>
        <p:spPr>
          <a:xfrm>
            <a:off x="9296400" y="35052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채촌</a:t>
            </a:r>
            <a:r>
              <a:rPr lang="en-US" altLang="ko-KR" sz="1400" b="1">
                <a:solidFill>
                  <a:srgbClr val="8A6D3B"/>
                </a:solidFill>
              </a:rPr>
              <a:t>·</a:t>
            </a:r>
            <a:r>
              <a:rPr lang="ko-KR" altLang="en-US" sz="1400" b="1">
                <a:solidFill>
                  <a:srgbClr val="8A6D3B"/>
                </a:solidFill>
              </a:rPr>
              <a:t>옵션 고정</a:t>
            </a:r>
            <a:r>
              <a:rPr lang="en-US" altLang="ko-KR" sz="1400" b="1">
                <a:solidFill>
                  <a:srgbClr val="8A6D3B"/>
                </a:solidFill>
              </a:rPr>
              <a:t>(</a:t>
            </a:r>
            <a:r>
              <a:rPr lang="ko-KR" altLang="en-US" sz="1400" b="1">
                <a:solidFill>
                  <a:srgbClr val="8A6D3B"/>
                </a:solidFill>
              </a:rPr>
              <a:t>잠김</a:t>
            </a:r>
            <a:r>
              <a:rPr lang="en-US" altLang="ko-KR" sz="1400" b="1">
                <a:solidFill>
                  <a:srgbClr val="8A6D3B"/>
                </a:solidFill>
              </a:rPr>
              <a:t>)</a:t>
            </a:r>
            <a:endParaRPr lang="ko-KR" altLang="en-US" sz="1400" b="1">
              <a:solidFill>
                <a:srgbClr val="8A6D3B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8D1477A-4593-5148-BCAA-674EB49D82EC}"/>
              </a:ext>
            </a:extLst>
          </p:cNvPr>
          <p:cNvSpPr/>
          <p:nvPr/>
        </p:nvSpPr>
        <p:spPr>
          <a:xfrm>
            <a:off x="762000" y="4673600"/>
            <a:ext cx="10668000" cy="1473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AF20CC-7829-D84B-9152-899E108A8B95}"/>
              </a:ext>
            </a:extLst>
          </p:cNvPr>
          <p:cNvSpPr/>
          <p:nvPr/>
        </p:nvSpPr>
        <p:spPr>
          <a:xfrm>
            <a:off x="762000" y="4673600"/>
            <a:ext cx="50800" cy="1473200"/>
          </a:xfrm>
          <a:prstGeom prst="rect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6AD936-40E5-B848-A8ED-47A1BCDCF31B}"/>
              </a:ext>
            </a:extLst>
          </p:cNvPr>
          <p:cNvSpPr txBox="1"/>
          <p:nvPr/>
        </p:nvSpPr>
        <p:spPr>
          <a:xfrm>
            <a:off x="1066800" y="48514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발주가 열리는 </a:t>
            </a:r>
            <a:r>
              <a:rPr lang="en-US" altLang="ko-KR" sz="1500" b="1">
                <a:solidFill>
                  <a:srgbClr val="16283C"/>
                </a:solidFill>
              </a:rPr>
              <a:t>3</a:t>
            </a:r>
            <a:r>
              <a:rPr lang="ko-KR" altLang="en-US" sz="1500" b="1">
                <a:solidFill>
                  <a:srgbClr val="16283C"/>
                </a:solidFill>
              </a:rPr>
              <a:t>가지 전제조건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16E331-D91C-C540-8C75-DC1085E9C2F3}"/>
              </a:ext>
            </a:extLst>
          </p:cNvPr>
          <p:cNvSpPr txBox="1"/>
          <p:nvPr/>
        </p:nvSpPr>
        <p:spPr>
          <a:xfrm>
            <a:off x="1066800" y="5232400"/>
            <a:ext cx="4318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B08D57"/>
                </a:solidFill>
              </a:rPr>
              <a:t>01</a:t>
            </a:r>
            <a:endParaRPr lang="ko-KR" altLang="en-US" sz="1500" b="1">
              <a:solidFill>
                <a:srgbClr val="B08D57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8A570-8F05-D440-BC97-6D5CE38D7904}"/>
              </a:ext>
            </a:extLst>
          </p:cNvPr>
          <p:cNvSpPr txBox="1"/>
          <p:nvPr/>
        </p:nvSpPr>
        <p:spPr>
          <a:xfrm>
            <a:off x="1549400" y="5232400"/>
            <a:ext cx="3048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계약서 계약완료 </a:t>
            </a:r>
            <a:r>
              <a:rPr lang="en-US" altLang="ko-KR" sz="1400">
                <a:solidFill>
                  <a:srgbClr val="33383F"/>
                </a:solidFill>
              </a:rPr>
              <a:t>(</a:t>
            </a:r>
            <a:r>
              <a:rPr lang="ko-KR" altLang="en-US" sz="1400">
                <a:solidFill>
                  <a:srgbClr val="33383F"/>
                </a:solidFill>
              </a:rPr>
              <a:t>주문 생성</a:t>
            </a:r>
            <a:r>
              <a:rPr lang="en-US" altLang="ko-KR" sz="1400">
                <a:solidFill>
                  <a:srgbClr val="33383F"/>
                </a:solidFill>
              </a:rPr>
              <a:t>)</a:t>
            </a:r>
            <a:endParaRPr lang="ko-KR" altLang="en-US" sz="1400">
              <a:solidFill>
                <a:srgbClr val="33383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A7A39B-8135-574C-9D0E-E12DEDD19AD9}"/>
              </a:ext>
            </a:extLst>
          </p:cNvPr>
          <p:cNvSpPr txBox="1"/>
          <p:nvPr/>
        </p:nvSpPr>
        <p:spPr>
          <a:xfrm>
            <a:off x="4521200" y="5232400"/>
            <a:ext cx="4318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B08D57"/>
                </a:solidFill>
              </a:rPr>
              <a:t>02</a:t>
            </a:r>
            <a:endParaRPr lang="ko-KR" altLang="en-US" sz="1500" b="1">
              <a:solidFill>
                <a:srgbClr val="B08D57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648420-CE4E-0C44-B614-19DABC600F69}"/>
              </a:ext>
            </a:extLst>
          </p:cNvPr>
          <p:cNvSpPr txBox="1"/>
          <p:nvPr/>
        </p:nvSpPr>
        <p:spPr>
          <a:xfrm>
            <a:off x="5003800" y="5232400"/>
            <a:ext cx="3048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스타일 컨설팅 확정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42BD14-DFFA-134C-BFCC-44BB0554126A}"/>
              </a:ext>
            </a:extLst>
          </p:cNvPr>
          <p:cNvSpPr txBox="1"/>
          <p:nvPr/>
        </p:nvSpPr>
        <p:spPr>
          <a:xfrm>
            <a:off x="7975600" y="5232400"/>
            <a:ext cx="4318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B08D57"/>
                </a:solidFill>
              </a:rPr>
              <a:t>03</a:t>
            </a:r>
            <a:endParaRPr lang="ko-KR" altLang="en-US" sz="1500" b="1">
              <a:solidFill>
                <a:srgbClr val="B08D57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F943EB-F010-7C41-9CFA-021CCA148C41}"/>
              </a:ext>
            </a:extLst>
          </p:cNvPr>
          <p:cNvSpPr txBox="1"/>
          <p:nvPr/>
        </p:nvSpPr>
        <p:spPr>
          <a:xfrm>
            <a:off x="8458200" y="5232400"/>
            <a:ext cx="3048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값이 든 채촌 연결 </a:t>
            </a:r>
            <a:r>
              <a:rPr lang="en-US" altLang="ko-KR" sz="1400">
                <a:solidFill>
                  <a:srgbClr val="33383F"/>
                </a:solidFill>
              </a:rPr>
              <a:t>(</a:t>
            </a:r>
            <a:r>
              <a:rPr lang="ko-KR" altLang="en-US" sz="1400">
                <a:solidFill>
                  <a:srgbClr val="33383F"/>
                </a:solidFill>
              </a:rPr>
              <a:t>맞춤 품목</a:t>
            </a:r>
            <a:r>
              <a:rPr lang="en-US" altLang="ko-KR" sz="1400">
                <a:solidFill>
                  <a:srgbClr val="33383F"/>
                </a:solidFill>
              </a:rPr>
              <a:t>)</a:t>
            </a:r>
            <a:endParaRPr lang="ko-KR" altLang="en-US" sz="1400">
              <a:solidFill>
                <a:srgbClr val="33383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448632-B4E2-8A40-82DA-4F07E9B9A013}"/>
              </a:ext>
            </a:extLst>
          </p:cNvPr>
          <p:cNvSpPr txBox="1"/>
          <p:nvPr/>
        </p:nvSpPr>
        <p:spPr>
          <a:xfrm>
            <a:off x="1066800" y="5765800"/>
            <a:ext cx="1003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dirty="0">
                <a:solidFill>
                  <a:srgbClr val="A34B3C"/>
                </a:solidFill>
              </a:rPr>
              <a:t>빈 </a:t>
            </a:r>
            <a:r>
              <a:rPr lang="ko-KR" altLang="en-US" sz="1400" dirty="0" err="1">
                <a:solidFill>
                  <a:srgbClr val="A34B3C"/>
                </a:solidFill>
              </a:rPr>
              <a:t>채촌은</a:t>
            </a:r>
            <a:r>
              <a:rPr lang="ko-KR" altLang="en-US" sz="1400" dirty="0">
                <a:solidFill>
                  <a:srgbClr val="A34B3C"/>
                </a:solidFill>
              </a:rPr>
              <a:t> 목록에 ‘</a:t>
            </a:r>
            <a:r>
              <a:rPr lang="ko-KR" altLang="en-US" sz="1400" dirty="0" err="1">
                <a:solidFill>
                  <a:srgbClr val="A34B3C"/>
                </a:solidFill>
              </a:rPr>
              <a:t>완료’처럼</a:t>
            </a:r>
            <a:r>
              <a:rPr lang="ko-KR" altLang="en-US" sz="1400" dirty="0">
                <a:solidFill>
                  <a:srgbClr val="A34B3C"/>
                </a:solidFill>
              </a:rPr>
              <a:t> 보여도 발주가 막힙니다 </a:t>
            </a:r>
            <a:r>
              <a:rPr lang="en-US" altLang="ko-KR" sz="1400" dirty="0">
                <a:solidFill>
                  <a:srgbClr val="33383F"/>
                </a:solidFill>
              </a:rPr>
              <a:t>-</a:t>
            </a:r>
            <a:r>
              <a:rPr lang="en-US" altLang="ko-KR" sz="1400" dirty="0">
                <a:solidFill>
                  <a:srgbClr val="A34B3C"/>
                </a:solidFill>
              </a:rPr>
              <a:t> </a:t>
            </a:r>
            <a:r>
              <a:rPr lang="ko-KR" altLang="en-US" sz="1400" dirty="0">
                <a:solidFill>
                  <a:srgbClr val="A34B3C"/>
                </a:solidFill>
              </a:rPr>
              <a:t>반드시 치수를 입력해 저장하세요</a:t>
            </a:r>
            <a:r>
              <a:rPr lang="en-US" altLang="ko-KR" sz="1400" dirty="0">
                <a:solidFill>
                  <a:srgbClr val="A34B3C"/>
                </a:solidFill>
              </a:rPr>
              <a:t>.</a:t>
            </a:r>
            <a:endParaRPr lang="ko-KR" altLang="en-US" sz="1400" dirty="0">
              <a:solidFill>
                <a:srgbClr val="A3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0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5C959-5FD5-0DDD-F884-144F48A1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668000" cy="533400"/>
          </a:xfrm>
        </p:spPr>
        <p:txBody>
          <a:bodyPr/>
          <a:lstStyle/>
          <a:p>
            <a:r>
              <a:rPr kumimoji="1" lang="en-US" altLang="ko-KR" dirty="0"/>
              <a:t>01 · </a:t>
            </a:r>
            <a:r>
              <a:rPr kumimoji="1" lang="ko-KR" altLang="en-US" dirty="0"/>
              <a:t>계약서 </a:t>
            </a:r>
            <a:r>
              <a:rPr lang="en-US" altLang="ko-KR" dirty="0">
                <a:solidFill>
                  <a:srgbClr val="33383F"/>
                </a:solidFill>
              </a:rPr>
              <a:t>-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모든 업무의 출발점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A7588-BFD6-8248-871C-DE30026DA094}"/>
              </a:ext>
            </a:extLst>
          </p:cNvPr>
          <p:cNvSpPr txBox="1"/>
          <p:nvPr/>
        </p:nvSpPr>
        <p:spPr>
          <a:xfrm>
            <a:off x="762000" y="12192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상태 흐름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0AAD0B-7787-6E47-AB9B-D73EFA6CF1E6}"/>
              </a:ext>
            </a:extLst>
          </p:cNvPr>
          <p:cNvSpPr/>
          <p:nvPr/>
        </p:nvSpPr>
        <p:spPr>
          <a:xfrm>
            <a:off x="838200" y="1778000"/>
            <a:ext cx="15240" cy="2362200"/>
          </a:xfrm>
          <a:prstGeom prst="rect">
            <a:avLst/>
          </a:prstGeom>
          <a:solidFill>
            <a:srgbClr val="D8D0C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78C0A66-69E0-5645-978A-A3617B607B69}"/>
              </a:ext>
            </a:extLst>
          </p:cNvPr>
          <p:cNvSpPr/>
          <p:nvPr/>
        </p:nvSpPr>
        <p:spPr>
          <a:xfrm>
            <a:off x="762000" y="1676400"/>
            <a:ext cx="165100" cy="1651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AFBE1-1887-884E-83D9-FE693FB283D0}"/>
              </a:ext>
            </a:extLst>
          </p:cNvPr>
          <p:cNvSpPr txBox="1"/>
          <p:nvPr/>
        </p:nvSpPr>
        <p:spPr>
          <a:xfrm>
            <a:off x="1092200" y="16002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작성중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7AF67-71C8-4143-B268-F65B45054BBD}"/>
              </a:ext>
            </a:extLst>
          </p:cNvPr>
          <p:cNvSpPr txBox="1"/>
          <p:nvPr/>
        </p:nvSpPr>
        <p:spPr>
          <a:xfrm>
            <a:off x="1092200" y="1905000"/>
            <a:ext cx="4775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dirty="0">
                <a:solidFill>
                  <a:srgbClr val="6E7B8B"/>
                </a:solidFill>
              </a:rPr>
              <a:t>임시저장 </a:t>
            </a:r>
            <a:r>
              <a:rPr lang="en-US" altLang="ko-KR" sz="1400" dirty="0">
                <a:solidFill>
                  <a:srgbClr val="6E7B8B"/>
                </a:solidFill>
              </a:rPr>
              <a:t>· </a:t>
            </a:r>
            <a:r>
              <a:rPr lang="ko-KR" altLang="en-US" sz="1400" dirty="0">
                <a:solidFill>
                  <a:srgbClr val="6E7B8B"/>
                </a:solidFill>
              </a:rPr>
              <a:t>실제 작업 단계 </a:t>
            </a:r>
            <a:r>
              <a:rPr lang="en-US" altLang="ko-KR" sz="1400" dirty="0">
                <a:solidFill>
                  <a:srgbClr val="33383F"/>
                </a:solidFill>
              </a:rPr>
              <a:t>-</a:t>
            </a:r>
            <a:r>
              <a:rPr lang="en-US" altLang="ko-KR" sz="1400" dirty="0">
                <a:solidFill>
                  <a:srgbClr val="6E7B8B"/>
                </a:solidFill>
              </a:rPr>
              <a:t> </a:t>
            </a:r>
            <a:r>
              <a:rPr lang="ko-KR" altLang="en-US" sz="1400" dirty="0">
                <a:solidFill>
                  <a:srgbClr val="6E7B8B"/>
                </a:solidFill>
              </a:rPr>
              <a:t>컨설팅</a:t>
            </a:r>
            <a:r>
              <a:rPr lang="en-US" altLang="ko-KR" sz="1400" dirty="0">
                <a:solidFill>
                  <a:srgbClr val="6E7B8B"/>
                </a:solidFill>
              </a:rPr>
              <a:t>·</a:t>
            </a:r>
            <a:r>
              <a:rPr lang="ko-KR" altLang="en-US" sz="1400" dirty="0">
                <a:solidFill>
                  <a:srgbClr val="6E7B8B"/>
                </a:solidFill>
              </a:rPr>
              <a:t>채촌 편집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1186D7C-6BE3-E94B-B13C-34D9AD8F6247}"/>
              </a:ext>
            </a:extLst>
          </p:cNvPr>
          <p:cNvSpPr/>
          <p:nvPr/>
        </p:nvSpPr>
        <p:spPr>
          <a:xfrm>
            <a:off x="762000" y="2489200"/>
            <a:ext cx="165100" cy="165100"/>
          </a:xfrm>
          <a:prstGeom prst="ellipse">
            <a:avLst/>
          </a:prstGeom>
          <a:solidFill>
            <a:srgbClr val="2C4A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6FAA37-B0D2-7E40-B9D6-0C924E7C0DFC}"/>
              </a:ext>
            </a:extLst>
          </p:cNvPr>
          <p:cNvSpPr txBox="1"/>
          <p:nvPr/>
        </p:nvSpPr>
        <p:spPr>
          <a:xfrm>
            <a:off x="1092200" y="24130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서명완료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98AB9-4278-7942-84C7-D74019F79A5E}"/>
              </a:ext>
            </a:extLst>
          </p:cNvPr>
          <p:cNvSpPr txBox="1"/>
          <p:nvPr/>
        </p:nvSpPr>
        <p:spPr>
          <a:xfrm>
            <a:off x="1092200" y="2717800"/>
            <a:ext cx="477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전자서명 완료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컨설팅 잠김</a:t>
            </a:r>
            <a:r>
              <a:rPr lang="en-US" altLang="ko-KR" sz="1400">
                <a:solidFill>
                  <a:srgbClr val="6E7B8B"/>
                </a:solidFill>
              </a:rPr>
              <a:t>, </a:t>
            </a:r>
            <a:r>
              <a:rPr lang="ko-KR" altLang="en-US" sz="1400">
                <a:solidFill>
                  <a:srgbClr val="6E7B8B"/>
                </a:solidFill>
              </a:rPr>
              <a:t>채촌은 계속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3C852DB-3BEB-7E4F-AEA2-962F9653B3AC}"/>
              </a:ext>
            </a:extLst>
          </p:cNvPr>
          <p:cNvSpPr/>
          <p:nvPr/>
        </p:nvSpPr>
        <p:spPr>
          <a:xfrm>
            <a:off x="762000" y="3302000"/>
            <a:ext cx="165100" cy="165100"/>
          </a:xfrm>
          <a:prstGeom prst="ellipse">
            <a:avLst/>
          </a:prstGeom>
          <a:solidFill>
            <a:srgbClr val="3E7C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18D54-A868-C141-85C6-C528A1F6EFD5}"/>
              </a:ext>
            </a:extLst>
          </p:cNvPr>
          <p:cNvSpPr txBox="1"/>
          <p:nvPr/>
        </p:nvSpPr>
        <p:spPr>
          <a:xfrm>
            <a:off x="1092200" y="32258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계약완료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CC6035-9154-BD49-95DB-5BF72E6A47F1}"/>
              </a:ext>
            </a:extLst>
          </p:cNvPr>
          <p:cNvSpPr txBox="1"/>
          <p:nvPr/>
        </p:nvSpPr>
        <p:spPr>
          <a:xfrm>
            <a:off x="1092200" y="3530600"/>
            <a:ext cx="477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주문 생성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작업 관리</a:t>
            </a:r>
            <a:r>
              <a:rPr lang="en-US" altLang="ko-KR" sz="1400">
                <a:solidFill>
                  <a:srgbClr val="6E7B8B"/>
                </a:solidFill>
              </a:rPr>
              <a:t>(</a:t>
            </a:r>
            <a:r>
              <a:rPr lang="ko-KR" altLang="en-US" sz="1400">
                <a:solidFill>
                  <a:srgbClr val="6E7B8B"/>
                </a:solidFill>
              </a:rPr>
              <a:t>발주</a:t>
            </a:r>
            <a:r>
              <a:rPr lang="en-US" altLang="ko-KR" sz="1400">
                <a:solidFill>
                  <a:srgbClr val="6E7B8B"/>
                </a:solidFill>
              </a:rPr>
              <a:t>) </a:t>
            </a:r>
            <a:r>
              <a:rPr lang="ko-KR" altLang="en-US" sz="1400">
                <a:solidFill>
                  <a:srgbClr val="6E7B8B"/>
                </a:solidFill>
              </a:rPr>
              <a:t>시작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4DF5DFE-B331-0440-A85C-2CE6909719B0}"/>
              </a:ext>
            </a:extLst>
          </p:cNvPr>
          <p:cNvSpPr/>
          <p:nvPr/>
        </p:nvSpPr>
        <p:spPr>
          <a:xfrm>
            <a:off x="762000" y="4114800"/>
            <a:ext cx="165100" cy="165100"/>
          </a:xfrm>
          <a:prstGeom prst="ellipse">
            <a:avLst/>
          </a:prstGeom>
          <a:solidFill>
            <a:srgbClr val="A34B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D380D-19DB-F045-8245-6942D220961A}"/>
              </a:ext>
            </a:extLst>
          </p:cNvPr>
          <p:cNvSpPr txBox="1"/>
          <p:nvPr/>
        </p:nvSpPr>
        <p:spPr>
          <a:xfrm>
            <a:off x="1092200" y="40386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283C"/>
                </a:solidFill>
              </a:rPr>
              <a:t>취소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B4975C-A7F2-5F42-B18D-0B437F2F4CC2}"/>
              </a:ext>
            </a:extLst>
          </p:cNvPr>
          <p:cNvSpPr txBox="1"/>
          <p:nvPr/>
        </p:nvSpPr>
        <p:spPr>
          <a:xfrm>
            <a:off x="1092200" y="4343400"/>
            <a:ext cx="4775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dirty="0">
                <a:solidFill>
                  <a:srgbClr val="6E7B8B"/>
                </a:solidFill>
              </a:rPr>
              <a:t>종결 상태 </a:t>
            </a:r>
            <a:r>
              <a:rPr lang="en-US" altLang="ko-KR" sz="1400" dirty="0">
                <a:solidFill>
                  <a:srgbClr val="33383F"/>
                </a:solidFill>
              </a:rPr>
              <a:t>-</a:t>
            </a:r>
            <a:r>
              <a:rPr lang="en-US" altLang="ko-KR" sz="1400" dirty="0">
                <a:solidFill>
                  <a:srgbClr val="6E7B8B"/>
                </a:solidFill>
              </a:rPr>
              <a:t> </a:t>
            </a:r>
            <a:r>
              <a:rPr lang="ko-KR" altLang="en-US" sz="1400" dirty="0" err="1">
                <a:solidFill>
                  <a:srgbClr val="6E7B8B"/>
                </a:solidFill>
              </a:rPr>
              <a:t>작성중</a:t>
            </a:r>
            <a:r>
              <a:rPr lang="en-US" altLang="ko-KR" sz="1400" dirty="0">
                <a:solidFill>
                  <a:srgbClr val="6E7B8B"/>
                </a:solidFill>
              </a:rPr>
              <a:t>·</a:t>
            </a:r>
            <a:r>
              <a:rPr lang="ko-KR" altLang="en-US" sz="1400" dirty="0">
                <a:solidFill>
                  <a:srgbClr val="6E7B8B"/>
                </a:solidFill>
              </a:rPr>
              <a:t>서명완료에서만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C8D0CC-31D5-FB42-9936-A6D1DB242B04}"/>
              </a:ext>
            </a:extLst>
          </p:cNvPr>
          <p:cNvSpPr txBox="1"/>
          <p:nvPr/>
        </p:nvSpPr>
        <p:spPr>
          <a:xfrm>
            <a:off x="6324600" y="12192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상태별 핵심 액션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26FB28-3000-164A-B711-6749A7DE1CF9}"/>
              </a:ext>
            </a:extLst>
          </p:cNvPr>
          <p:cNvSpPr/>
          <p:nvPr/>
        </p:nvSpPr>
        <p:spPr>
          <a:xfrm>
            <a:off x="6324600" y="1701800"/>
            <a:ext cx="38100" cy="812800"/>
          </a:xfrm>
          <a:prstGeom prst="rect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80FD47-A502-C948-B814-D3D1829ED1C2}"/>
              </a:ext>
            </a:extLst>
          </p:cNvPr>
          <p:cNvSpPr txBox="1"/>
          <p:nvPr/>
        </p:nvSpPr>
        <p:spPr>
          <a:xfrm>
            <a:off x="6527800" y="1625600"/>
            <a:ext cx="490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작성중일 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9D9C3B-C093-644E-BF88-493C0FDB456E}"/>
              </a:ext>
            </a:extLst>
          </p:cNvPr>
          <p:cNvSpPr txBox="1"/>
          <p:nvPr/>
        </p:nvSpPr>
        <p:spPr>
          <a:xfrm>
            <a:off x="6527800" y="1930400"/>
            <a:ext cx="4902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품목 편집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임시저장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컨설팅</a:t>
            </a:r>
            <a:r>
              <a:rPr lang="en-US" altLang="ko-KR" sz="1400">
                <a:solidFill>
                  <a:srgbClr val="6E7B8B"/>
                </a:solidFill>
              </a:rPr>
              <a:t>/</a:t>
            </a:r>
            <a:r>
              <a:rPr lang="ko-KR" altLang="en-US" sz="1400">
                <a:solidFill>
                  <a:srgbClr val="6E7B8B"/>
                </a:solidFill>
              </a:rPr>
              <a:t>채촌 진행
</a:t>
            </a:r>
            <a:r>
              <a:rPr lang="en-US" altLang="ko-KR" sz="1400">
                <a:solidFill>
                  <a:srgbClr val="6E7B8B"/>
                </a:solidFill>
              </a:rPr>
              <a:t>[</a:t>
            </a:r>
            <a:r>
              <a:rPr lang="ko-KR" altLang="en-US" sz="1400">
                <a:solidFill>
                  <a:srgbClr val="6E7B8B"/>
                </a:solidFill>
              </a:rPr>
              <a:t>서명</a:t>
            </a:r>
            <a:r>
              <a:rPr lang="en-US" altLang="ko-KR" sz="1400">
                <a:solidFill>
                  <a:srgbClr val="6E7B8B"/>
                </a:solidFill>
              </a:rPr>
              <a:t>]</a:t>
            </a:r>
            <a:r>
              <a:rPr lang="ko-KR" altLang="en-US" sz="1400">
                <a:solidFill>
                  <a:srgbClr val="6E7B8B"/>
                </a:solidFill>
              </a:rPr>
              <a:t>은 컨설팅이 모두 확정돼야 활성화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D50925-BFEA-8048-B22C-B51A9F68B67D}"/>
              </a:ext>
            </a:extLst>
          </p:cNvPr>
          <p:cNvSpPr/>
          <p:nvPr/>
        </p:nvSpPr>
        <p:spPr>
          <a:xfrm>
            <a:off x="6324600" y="2768600"/>
            <a:ext cx="38100" cy="812800"/>
          </a:xfrm>
          <a:prstGeom prst="rect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B5D476-894E-0F41-A5E7-8AB0C5246443}"/>
              </a:ext>
            </a:extLst>
          </p:cNvPr>
          <p:cNvSpPr txBox="1"/>
          <p:nvPr/>
        </p:nvSpPr>
        <p:spPr>
          <a:xfrm>
            <a:off x="6527800" y="2692400"/>
            <a:ext cx="490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서명완료일 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AD6C74-F2CD-1C45-AD08-452ACDD4909C}"/>
              </a:ext>
            </a:extLst>
          </p:cNvPr>
          <p:cNvSpPr txBox="1"/>
          <p:nvPr/>
        </p:nvSpPr>
        <p:spPr>
          <a:xfrm>
            <a:off x="6527800" y="2997200"/>
            <a:ext cx="4902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E7B8B"/>
                </a:solidFill>
              </a:rPr>
              <a:t>[</a:t>
            </a:r>
            <a:r>
              <a:rPr lang="ko-KR" altLang="en-US" sz="1400">
                <a:solidFill>
                  <a:srgbClr val="6E7B8B"/>
                </a:solidFill>
              </a:rPr>
              <a:t>계약완료</a:t>
            </a:r>
            <a:r>
              <a:rPr lang="en-US" altLang="ko-KR" sz="1400">
                <a:solidFill>
                  <a:srgbClr val="6E7B8B"/>
                </a:solidFill>
              </a:rPr>
              <a:t>]</a:t>
            </a:r>
            <a:r>
              <a:rPr lang="ko-KR" altLang="en-US" sz="1400">
                <a:solidFill>
                  <a:srgbClr val="6E7B8B"/>
                </a:solidFill>
              </a:rPr>
              <a:t>로 주문 생성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계약서 출력</a:t>
            </a:r>
            <a:r>
              <a:rPr lang="en-US" altLang="ko-KR" sz="1400">
                <a:solidFill>
                  <a:srgbClr val="6E7B8B"/>
                </a:solidFill>
              </a:rPr>
              <a:t>(</a:t>
            </a:r>
            <a:r>
              <a:rPr lang="ko-KR" altLang="en-US" sz="1400">
                <a:solidFill>
                  <a:srgbClr val="6E7B8B"/>
                </a:solidFill>
              </a:rPr>
              <a:t>엑셀</a:t>
            </a:r>
            <a:r>
              <a:rPr lang="en-US" altLang="ko-KR" sz="1400">
                <a:solidFill>
                  <a:srgbClr val="6E7B8B"/>
                </a:solidFill>
              </a:rPr>
              <a:t>)
</a:t>
            </a:r>
            <a:r>
              <a:rPr lang="ko-KR" altLang="en-US" sz="1400">
                <a:solidFill>
                  <a:srgbClr val="6E7B8B"/>
                </a:solidFill>
              </a:rPr>
              <a:t>수정하기 → 서명만 해제하고 작성중 복귀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B6FA05-1759-AD43-8C24-46327316BBC0}"/>
              </a:ext>
            </a:extLst>
          </p:cNvPr>
          <p:cNvSpPr/>
          <p:nvPr/>
        </p:nvSpPr>
        <p:spPr>
          <a:xfrm>
            <a:off x="6324600" y="3835400"/>
            <a:ext cx="38100" cy="812800"/>
          </a:xfrm>
          <a:prstGeom prst="rect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ADC3C1-CAE3-9B49-8A59-5FDF475839F2}"/>
              </a:ext>
            </a:extLst>
          </p:cNvPr>
          <p:cNvSpPr txBox="1"/>
          <p:nvPr/>
        </p:nvSpPr>
        <p:spPr>
          <a:xfrm>
            <a:off x="6527800" y="3759200"/>
            <a:ext cx="490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계약완료일 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5755E7-D689-6049-9B61-5C27E0A96B23}"/>
              </a:ext>
            </a:extLst>
          </p:cNvPr>
          <p:cNvSpPr txBox="1"/>
          <p:nvPr/>
        </p:nvSpPr>
        <p:spPr>
          <a:xfrm>
            <a:off x="6527800" y="4064000"/>
            <a:ext cx="4902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완료 시점 보관본 출력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작업 관리로 이동
수정은 새 버전 작성 </a:t>
            </a:r>
            <a:r>
              <a:rPr lang="en-US" altLang="ko-KR" sz="1400">
                <a:solidFill>
                  <a:srgbClr val="6E7B8B"/>
                </a:solidFill>
              </a:rPr>
              <a:t>(</a:t>
            </a:r>
            <a:r>
              <a:rPr lang="ko-KR" altLang="en-US" sz="1400">
                <a:solidFill>
                  <a:srgbClr val="6E7B8B"/>
                </a:solidFill>
              </a:rPr>
              <a:t>변경사유 필수</a:t>
            </a:r>
            <a:r>
              <a:rPr lang="en-US" altLang="ko-KR" sz="1400">
                <a:solidFill>
                  <a:srgbClr val="6E7B8B"/>
                </a:solidFill>
              </a:rPr>
              <a:t>)</a:t>
            </a:r>
            <a:endParaRPr lang="ko-KR" altLang="en-US" sz="1400">
              <a:solidFill>
                <a:srgbClr val="6E7B8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91BDF74-FCF1-8B44-8080-E58E8D3973BD}"/>
              </a:ext>
            </a:extLst>
          </p:cNvPr>
          <p:cNvSpPr/>
          <p:nvPr/>
        </p:nvSpPr>
        <p:spPr>
          <a:xfrm>
            <a:off x="762000" y="5130800"/>
            <a:ext cx="5181600" cy="101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94FB8F-361B-854A-B823-1CEF5EB78CF8}"/>
              </a:ext>
            </a:extLst>
          </p:cNvPr>
          <p:cNvSpPr/>
          <p:nvPr/>
        </p:nvSpPr>
        <p:spPr>
          <a:xfrm>
            <a:off x="762000" y="5130800"/>
            <a:ext cx="5181600" cy="38100"/>
          </a:xfrm>
          <a:prstGeom prst="rect">
            <a:avLst/>
          </a:prstGeom>
          <a:solidFill>
            <a:srgbClr val="1628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CD3C06-6ECD-104E-81C7-66B72B5E6BD5}"/>
              </a:ext>
            </a:extLst>
          </p:cNvPr>
          <p:cNvSpPr txBox="1"/>
          <p:nvPr/>
        </p:nvSpPr>
        <p:spPr>
          <a:xfrm>
            <a:off x="990600" y="5283200"/>
            <a:ext cx="472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수정하기 </a:t>
            </a:r>
            <a:r>
              <a:rPr lang="en-US" altLang="ko-KR" sz="1500" b="1">
                <a:solidFill>
                  <a:srgbClr val="16283C"/>
                </a:solidFill>
              </a:rPr>
              <a:t>① </a:t>
            </a:r>
            <a:r>
              <a:rPr lang="ko-KR" altLang="en-US" sz="1500" b="1">
                <a:solidFill>
                  <a:srgbClr val="16283C"/>
                </a:solidFill>
              </a:rPr>
              <a:t>서명 해제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01D03-7259-6F40-94F2-9687F58092AF}"/>
              </a:ext>
            </a:extLst>
          </p:cNvPr>
          <p:cNvSpPr txBox="1"/>
          <p:nvPr/>
        </p:nvSpPr>
        <p:spPr>
          <a:xfrm>
            <a:off x="990600" y="5613400"/>
            <a:ext cx="472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서명완료 → 작성중 복귀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버전 그대로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서명만 취소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571959F-0BAF-4848-9BEE-668DCD514721}"/>
              </a:ext>
            </a:extLst>
          </p:cNvPr>
          <p:cNvSpPr/>
          <p:nvPr/>
        </p:nvSpPr>
        <p:spPr>
          <a:xfrm>
            <a:off x="6248400" y="5130800"/>
            <a:ext cx="5181600" cy="101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E2ACBE-80A8-714F-B459-3EED4EAC5233}"/>
              </a:ext>
            </a:extLst>
          </p:cNvPr>
          <p:cNvSpPr/>
          <p:nvPr/>
        </p:nvSpPr>
        <p:spPr>
          <a:xfrm>
            <a:off x="6248400" y="5130800"/>
            <a:ext cx="5181600" cy="38100"/>
          </a:xfrm>
          <a:prstGeom prst="rect">
            <a:avLst/>
          </a:prstGeom>
          <a:solidFill>
            <a:srgbClr val="1628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D1352A-C2D9-124B-92CA-9F62DDBB803D}"/>
              </a:ext>
            </a:extLst>
          </p:cNvPr>
          <p:cNvSpPr txBox="1"/>
          <p:nvPr/>
        </p:nvSpPr>
        <p:spPr>
          <a:xfrm>
            <a:off x="6477000" y="5283200"/>
            <a:ext cx="472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수정하기 </a:t>
            </a:r>
            <a:r>
              <a:rPr lang="en-US" altLang="ko-KR" sz="1500" b="1">
                <a:solidFill>
                  <a:srgbClr val="16283C"/>
                </a:solidFill>
              </a:rPr>
              <a:t>② </a:t>
            </a:r>
            <a:r>
              <a:rPr lang="ko-KR" altLang="en-US" sz="1500" b="1">
                <a:solidFill>
                  <a:srgbClr val="16283C"/>
                </a:solidFill>
              </a:rPr>
              <a:t>버전업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CAD92E-9510-244B-AC78-F105BA3E6817}"/>
              </a:ext>
            </a:extLst>
          </p:cNvPr>
          <p:cNvSpPr txBox="1"/>
          <p:nvPr/>
        </p:nvSpPr>
        <p:spPr>
          <a:xfrm>
            <a:off x="6477000" y="5613400"/>
            <a:ext cx="4724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계약완료 → 새 버전</a:t>
            </a:r>
            <a:r>
              <a:rPr lang="en-US" altLang="ko-KR" sz="1400">
                <a:solidFill>
                  <a:srgbClr val="6E7B8B"/>
                </a:solidFill>
              </a:rPr>
              <a:t>(+1) </a:t>
            </a:r>
            <a:r>
              <a:rPr lang="ko-KR" altLang="en-US" sz="1400">
                <a:solidFill>
                  <a:srgbClr val="6E7B8B"/>
                </a:solidFill>
              </a:rPr>
              <a:t>작성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재서명 필요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변경사유 입력 필수</a:t>
            </a:r>
          </a:p>
        </p:txBody>
      </p:sp>
    </p:spTree>
    <p:extLst>
      <p:ext uri="{BB962C8B-B14F-4D97-AF65-F5344CB8AC3E}">
        <p14:creationId xmlns:p14="http://schemas.microsoft.com/office/powerpoint/2010/main" val="47142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206F1-CFAC-21EF-76AF-6F2354E3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668000" cy="533400"/>
          </a:xfrm>
        </p:spPr>
        <p:txBody>
          <a:bodyPr/>
          <a:lstStyle/>
          <a:p>
            <a:r>
              <a:rPr kumimoji="1" lang="en-US" altLang="ko-KR" dirty="0"/>
              <a:t>02 · </a:t>
            </a:r>
            <a:r>
              <a:rPr kumimoji="1" lang="ko-KR" altLang="en-US" dirty="0"/>
              <a:t>스타일 컨설팅 </a:t>
            </a:r>
            <a:r>
              <a:rPr lang="en-US" altLang="ko-KR" dirty="0">
                <a:solidFill>
                  <a:srgbClr val="33383F"/>
                </a:solidFill>
              </a:rPr>
              <a:t>-</a:t>
            </a:r>
            <a:r>
              <a:rPr kumimoji="1" lang="en-US" altLang="ko-KR" dirty="0"/>
              <a:t> </a:t>
            </a:r>
            <a:r>
              <a:rPr kumimoji="1" lang="ko-KR" altLang="en-US" dirty="0"/>
              <a:t>확정해야 서명이 열립니다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3B997B-AA05-0942-B9CC-EC866A668F19}"/>
              </a:ext>
            </a:extLst>
          </p:cNvPr>
          <p:cNvSpPr/>
          <p:nvPr/>
        </p:nvSpPr>
        <p:spPr>
          <a:xfrm>
            <a:off x="762000" y="1219200"/>
            <a:ext cx="10668000" cy="558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4456EB-6B20-4846-9F9D-F1C0BC5D891A}"/>
              </a:ext>
            </a:extLst>
          </p:cNvPr>
          <p:cNvSpPr/>
          <p:nvPr/>
        </p:nvSpPr>
        <p:spPr>
          <a:xfrm>
            <a:off x="762000" y="1219200"/>
            <a:ext cx="50800" cy="558800"/>
          </a:xfrm>
          <a:prstGeom prst="rect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B6AAA-2EFC-2A4B-803A-65CA848701D1}"/>
              </a:ext>
            </a:extLst>
          </p:cNvPr>
          <p:cNvSpPr txBox="1"/>
          <p:nvPr/>
        </p:nvSpPr>
        <p:spPr>
          <a:xfrm>
            <a:off x="1066800" y="1358900"/>
            <a:ext cx="1016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500" dirty="0">
                <a:solidFill>
                  <a:srgbClr val="16283C"/>
                </a:solidFill>
              </a:rPr>
              <a:t>컨설팅은 ‘</a:t>
            </a:r>
            <a:r>
              <a:rPr lang="ko-KR" altLang="en-US" sz="1500" dirty="0" err="1">
                <a:solidFill>
                  <a:srgbClr val="16283C"/>
                </a:solidFill>
              </a:rPr>
              <a:t>작성중</a:t>
            </a:r>
            <a:r>
              <a:rPr lang="ko-KR" altLang="en-US" sz="1500" dirty="0">
                <a:solidFill>
                  <a:srgbClr val="16283C"/>
                </a:solidFill>
              </a:rPr>
              <a:t>’ 계약에서만 편집합니다 </a:t>
            </a:r>
            <a:r>
              <a:rPr lang="en-US" altLang="ko-KR" sz="1600" dirty="0">
                <a:solidFill>
                  <a:srgbClr val="33383F"/>
                </a:solidFill>
              </a:rPr>
              <a:t>-</a:t>
            </a:r>
            <a:r>
              <a:rPr lang="en-US" altLang="ko-KR" sz="1500" dirty="0">
                <a:solidFill>
                  <a:srgbClr val="16283C"/>
                </a:solidFill>
              </a:rPr>
              <a:t> </a:t>
            </a:r>
            <a:r>
              <a:rPr lang="ko-KR" altLang="en-US" sz="1500" dirty="0">
                <a:solidFill>
                  <a:srgbClr val="16283C"/>
                </a:solidFill>
              </a:rPr>
              <a:t>모든 품목이 확정되면 계약서의 </a:t>
            </a:r>
            <a:r>
              <a:rPr lang="en-US" altLang="ko-KR" sz="1500" dirty="0">
                <a:solidFill>
                  <a:srgbClr val="16283C"/>
                </a:solidFill>
              </a:rPr>
              <a:t>[</a:t>
            </a:r>
            <a:r>
              <a:rPr lang="ko-KR" altLang="en-US" sz="1500" dirty="0">
                <a:solidFill>
                  <a:srgbClr val="16283C"/>
                </a:solidFill>
              </a:rPr>
              <a:t>서명</a:t>
            </a:r>
            <a:r>
              <a:rPr lang="en-US" altLang="ko-KR" sz="1500" dirty="0">
                <a:solidFill>
                  <a:srgbClr val="16283C"/>
                </a:solidFill>
              </a:rPr>
              <a:t>]</a:t>
            </a:r>
            <a:r>
              <a:rPr lang="ko-KR" altLang="en-US" sz="1500" dirty="0">
                <a:solidFill>
                  <a:srgbClr val="16283C"/>
                </a:solidFill>
              </a:rPr>
              <a:t>이 활성화됩니다</a:t>
            </a:r>
            <a:r>
              <a:rPr lang="en-US" altLang="ko-KR" sz="1500" dirty="0">
                <a:solidFill>
                  <a:srgbClr val="16283C"/>
                </a:solidFill>
              </a:rPr>
              <a:t>.</a:t>
            </a:r>
            <a:endParaRPr lang="ko-KR" altLang="en-US" sz="1500" dirty="0">
              <a:solidFill>
                <a:srgbClr val="16283C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01B958-400D-6C4A-8ECE-55659F6411F7}"/>
              </a:ext>
            </a:extLst>
          </p:cNvPr>
          <p:cNvSpPr/>
          <p:nvPr/>
        </p:nvSpPr>
        <p:spPr>
          <a:xfrm>
            <a:off x="762000" y="2006600"/>
            <a:ext cx="5181600" cy="312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0EC2AC-A375-BD4D-815D-DF35A171ACA5}"/>
              </a:ext>
            </a:extLst>
          </p:cNvPr>
          <p:cNvSpPr/>
          <p:nvPr/>
        </p:nvSpPr>
        <p:spPr>
          <a:xfrm>
            <a:off x="762000" y="2006600"/>
            <a:ext cx="5181600" cy="38100"/>
          </a:xfrm>
          <a:prstGeom prst="rect">
            <a:avLst/>
          </a:prstGeom>
          <a:solidFill>
            <a:srgbClr val="3E7C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B9034-B3AA-2046-ACAC-4CEF629C2673}"/>
              </a:ext>
            </a:extLst>
          </p:cNvPr>
          <p:cNvSpPr txBox="1"/>
          <p:nvPr/>
        </p:nvSpPr>
        <p:spPr>
          <a:xfrm>
            <a:off x="1016000" y="2209800"/>
            <a:ext cx="467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맞춤 품목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E13CA3-7345-C04B-A4F4-0A9EA99049E6}"/>
              </a:ext>
            </a:extLst>
          </p:cNvPr>
          <p:cNvSpPr txBox="1"/>
          <p:nvPr/>
        </p:nvSpPr>
        <p:spPr>
          <a:xfrm>
            <a:off x="1016000" y="2590800"/>
            <a:ext cx="467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미시작  </a:t>
            </a:r>
            <a:r>
              <a:rPr lang="en-US" altLang="ko-KR" sz="1400" b="1">
                <a:solidFill>
                  <a:srgbClr val="8A6D3B"/>
                </a:solidFill>
              </a:rPr>
              <a:t>›  </a:t>
            </a:r>
            <a:r>
              <a:rPr lang="ko-KR" altLang="en-US" sz="1400" b="1">
                <a:solidFill>
                  <a:srgbClr val="8A6D3B"/>
                </a:solidFill>
              </a:rPr>
              <a:t>진행중  </a:t>
            </a:r>
            <a:r>
              <a:rPr lang="en-US" altLang="ko-KR" sz="1400" b="1">
                <a:solidFill>
                  <a:srgbClr val="8A6D3B"/>
                </a:solidFill>
              </a:rPr>
              <a:t>›  </a:t>
            </a:r>
            <a:r>
              <a:rPr lang="ko-KR" altLang="en-US" sz="1400" b="1">
                <a:solidFill>
                  <a:srgbClr val="8A6D3B"/>
                </a:solidFill>
              </a:rPr>
              <a:t>확인대기  </a:t>
            </a:r>
            <a:r>
              <a:rPr lang="en-US" altLang="ko-KR" sz="1400" b="1">
                <a:solidFill>
                  <a:srgbClr val="8A6D3B"/>
                </a:solidFill>
              </a:rPr>
              <a:t>›  </a:t>
            </a:r>
            <a:r>
              <a:rPr lang="ko-KR" altLang="en-US" sz="1400" b="1">
                <a:solidFill>
                  <a:srgbClr val="8A6D3B"/>
                </a:solidFill>
              </a:rPr>
              <a:t>확정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D425D8-DE8E-824C-AAFE-FC28FE1E9CEA}"/>
              </a:ext>
            </a:extLst>
          </p:cNvPr>
          <p:cNvSpPr/>
          <p:nvPr/>
        </p:nvSpPr>
        <p:spPr>
          <a:xfrm>
            <a:off x="1016000" y="2946400"/>
            <a:ext cx="46736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7559529-2251-B04E-93F4-CDD4774C72EF}"/>
              </a:ext>
            </a:extLst>
          </p:cNvPr>
          <p:cNvSpPr/>
          <p:nvPr/>
        </p:nvSpPr>
        <p:spPr>
          <a:xfrm>
            <a:off x="1016000" y="31750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06DBC9-0874-1941-AF0E-6598E022EED8}"/>
              </a:ext>
            </a:extLst>
          </p:cNvPr>
          <p:cNvSpPr txBox="1"/>
          <p:nvPr/>
        </p:nvSpPr>
        <p:spPr>
          <a:xfrm>
            <a:off x="1219200" y="3098800"/>
            <a:ext cx="4470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부위별</a:t>
            </a:r>
            <a:r>
              <a:rPr lang="en-US" altLang="ko-KR" sz="1400">
                <a:solidFill>
                  <a:srgbClr val="33383F"/>
                </a:solidFill>
              </a:rPr>
              <a:t>(</a:t>
            </a:r>
            <a:r>
              <a:rPr lang="ko-KR" altLang="en-US" sz="1400">
                <a:solidFill>
                  <a:srgbClr val="33383F"/>
                </a:solidFill>
              </a:rPr>
              <a:t>상의</a:t>
            </a:r>
            <a:r>
              <a:rPr lang="en-US" altLang="ko-KR" sz="1400">
                <a:solidFill>
                  <a:srgbClr val="33383F"/>
                </a:solidFill>
              </a:rPr>
              <a:t>·</a:t>
            </a:r>
            <a:r>
              <a:rPr lang="ko-KR" altLang="en-US" sz="1400">
                <a:solidFill>
                  <a:srgbClr val="33383F"/>
                </a:solidFill>
              </a:rPr>
              <a:t>하의</a:t>
            </a:r>
            <a:r>
              <a:rPr lang="en-US" altLang="ko-KR" sz="1400">
                <a:solidFill>
                  <a:srgbClr val="33383F"/>
                </a:solidFill>
              </a:rPr>
              <a:t>·</a:t>
            </a:r>
            <a:r>
              <a:rPr lang="ko-KR" altLang="en-US" sz="1400">
                <a:solidFill>
                  <a:srgbClr val="33383F"/>
                </a:solidFill>
              </a:rPr>
              <a:t>베스트</a:t>
            </a:r>
            <a:r>
              <a:rPr lang="en-US" altLang="ko-KR" sz="1400">
                <a:solidFill>
                  <a:srgbClr val="33383F"/>
                </a:solidFill>
              </a:rPr>
              <a:t>) </a:t>
            </a:r>
            <a:r>
              <a:rPr lang="ko-KR" altLang="en-US" sz="1400">
                <a:solidFill>
                  <a:srgbClr val="33383F"/>
                </a:solidFill>
              </a:rPr>
              <a:t>옵션을 단계별로 선택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A290EE7-9878-C345-AD0A-C677FDF37BD8}"/>
              </a:ext>
            </a:extLst>
          </p:cNvPr>
          <p:cNvSpPr/>
          <p:nvPr/>
        </p:nvSpPr>
        <p:spPr>
          <a:xfrm>
            <a:off x="1016000" y="36576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8CEAD-AC43-074B-B46D-A8D570A8BAD4}"/>
              </a:ext>
            </a:extLst>
          </p:cNvPr>
          <p:cNvSpPr txBox="1"/>
          <p:nvPr/>
        </p:nvSpPr>
        <p:spPr>
          <a:xfrm>
            <a:off x="1219200" y="3581400"/>
            <a:ext cx="4470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dirty="0">
                <a:solidFill>
                  <a:srgbClr val="33383F"/>
                </a:solidFill>
              </a:rPr>
              <a:t>확인서 제출로 확정 </a:t>
            </a:r>
            <a:r>
              <a:rPr lang="en-US" altLang="ko-KR" sz="1400" dirty="0">
                <a:solidFill>
                  <a:srgbClr val="33383F"/>
                </a:solidFill>
              </a:rPr>
              <a:t>- </a:t>
            </a:r>
            <a:r>
              <a:rPr lang="ko-KR" altLang="en-US" sz="1400" dirty="0">
                <a:solidFill>
                  <a:srgbClr val="33383F"/>
                </a:solidFill>
              </a:rPr>
              <a:t>이후 전체 잠김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FC1D09C-16D1-2A48-B244-3AB45D676C70}"/>
              </a:ext>
            </a:extLst>
          </p:cNvPr>
          <p:cNvSpPr/>
          <p:nvPr/>
        </p:nvSpPr>
        <p:spPr>
          <a:xfrm>
            <a:off x="1016000" y="41402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14B60B-0B85-2142-803E-30C2F092E197}"/>
              </a:ext>
            </a:extLst>
          </p:cNvPr>
          <p:cNvSpPr txBox="1"/>
          <p:nvPr/>
        </p:nvSpPr>
        <p:spPr>
          <a:xfrm>
            <a:off x="1219200" y="4064000"/>
            <a:ext cx="4470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동일 옵션 적용</a:t>
            </a:r>
            <a:r>
              <a:rPr lang="en-US" altLang="ko-KR" sz="1400">
                <a:solidFill>
                  <a:srgbClr val="33383F"/>
                </a:solidFill>
              </a:rPr>
              <a:t>: </a:t>
            </a:r>
            <a:r>
              <a:rPr lang="ko-KR" altLang="en-US" sz="1400">
                <a:solidFill>
                  <a:srgbClr val="33383F"/>
                </a:solidFill>
              </a:rPr>
              <a:t>같은 종류 미확정 품목에 복사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A7003F1-97FE-A842-BE3B-8C297B7FAFB0}"/>
              </a:ext>
            </a:extLst>
          </p:cNvPr>
          <p:cNvSpPr/>
          <p:nvPr/>
        </p:nvSpPr>
        <p:spPr>
          <a:xfrm>
            <a:off x="1016000" y="46228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1374C-86D7-E444-83BA-67BD06A0ED90}"/>
              </a:ext>
            </a:extLst>
          </p:cNvPr>
          <p:cNvSpPr txBox="1"/>
          <p:nvPr/>
        </p:nvSpPr>
        <p:spPr>
          <a:xfrm>
            <a:off x="1219200" y="4546600"/>
            <a:ext cx="4470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베스트 제외 선택 시 추가금 자동 반영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668AAA-69F9-9646-91DD-E8A144C41D04}"/>
              </a:ext>
            </a:extLst>
          </p:cNvPr>
          <p:cNvSpPr/>
          <p:nvPr/>
        </p:nvSpPr>
        <p:spPr>
          <a:xfrm>
            <a:off x="6248400" y="2006600"/>
            <a:ext cx="5181600" cy="312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F70669-A9BD-B64C-94EB-B616B96D5CB9}"/>
              </a:ext>
            </a:extLst>
          </p:cNvPr>
          <p:cNvSpPr/>
          <p:nvPr/>
        </p:nvSpPr>
        <p:spPr>
          <a:xfrm>
            <a:off x="6248400" y="2006600"/>
            <a:ext cx="5181600" cy="38100"/>
          </a:xfrm>
          <a:prstGeom prst="rect">
            <a:avLst/>
          </a:prstGeom>
          <a:solidFill>
            <a:srgbClr val="7A5C8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F77236-42F7-4E4A-9699-981143D61795}"/>
              </a:ext>
            </a:extLst>
          </p:cNvPr>
          <p:cNvSpPr txBox="1"/>
          <p:nvPr/>
        </p:nvSpPr>
        <p:spPr>
          <a:xfrm>
            <a:off x="6502400" y="2209800"/>
            <a:ext cx="467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렌탈 품목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4559E1-A3EC-AF40-AFC6-E0DCA85E0978}"/>
              </a:ext>
            </a:extLst>
          </p:cNvPr>
          <p:cNvSpPr txBox="1"/>
          <p:nvPr/>
        </p:nvSpPr>
        <p:spPr>
          <a:xfrm>
            <a:off x="6502400" y="2590800"/>
            <a:ext cx="467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미시작  </a:t>
            </a:r>
            <a:r>
              <a:rPr lang="en-US" altLang="ko-KR" sz="1400" b="1">
                <a:solidFill>
                  <a:srgbClr val="8A6D3B"/>
                </a:solidFill>
              </a:rPr>
              <a:t>›  </a:t>
            </a:r>
            <a:r>
              <a:rPr lang="ko-KR" altLang="en-US" sz="1400" b="1">
                <a:solidFill>
                  <a:srgbClr val="8A6D3B"/>
                </a:solidFill>
              </a:rPr>
              <a:t>작성중  </a:t>
            </a:r>
            <a:r>
              <a:rPr lang="en-US" altLang="ko-KR" sz="1400" b="1">
                <a:solidFill>
                  <a:srgbClr val="8A6D3B"/>
                </a:solidFill>
              </a:rPr>
              <a:t>›  </a:t>
            </a:r>
            <a:r>
              <a:rPr lang="ko-KR" altLang="en-US" sz="1400" b="1">
                <a:solidFill>
                  <a:srgbClr val="8A6D3B"/>
                </a:solidFill>
              </a:rPr>
              <a:t>확정 </a:t>
            </a:r>
            <a:r>
              <a:rPr lang="en-US" altLang="ko-KR" sz="1400" b="1">
                <a:solidFill>
                  <a:srgbClr val="8A6D3B"/>
                </a:solidFill>
              </a:rPr>
              <a:t>(</a:t>
            </a:r>
            <a:r>
              <a:rPr lang="ko-KR" altLang="en-US" sz="1400" b="1">
                <a:solidFill>
                  <a:srgbClr val="8A6D3B"/>
                </a:solidFill>
              </a:rPr>
              <a:t>서명 시 자동</a:t>
            </a:r>
            <a:r>
              <a:rPr lang="en-US" altLang="ko-KR" sz="1400" b="1">
                <a:solidFill>
                  <a:srgbClr val="8A6D3B"/>
                </a:solidFill>
              </a:rPr>
              <a:t>)</a:t>
            </a:r>
            <a:endParaRPr lang="ko-KR" altLang="en-US" sz="1400" b="1">
              <a:solidFill>
                <a:srgbClr val="8A6D3B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4EEB3F-86F8-C746-A9D0-A804FA516576}"/>
              </a:ext>
            </a:extLst>
          </p:cNvPr>
          <p:cNvSpPr/>
          <p:nvPr/>
        </p:nvSpPr>
        <p:spPr>
          <a:xfrm>
            <a:off x="6502400" y="2946400"/>
            <a:ext cx="46736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9ED8D77-FA16-F24A-A4CE-D5E9F5F68FDA}"/>
              </a:ext>
            </a:extLst>
          </p:cNvPr>
          <p:cNvSpPr/>
          <p:nvPr/>
        </p:nvSpPr>
        <p:spPr>
          <a:xfrm>
            <a:off x="6502400" y="31750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7E0CAC-6DD4-F945-B842-45D043BECD65}"/>
              </a:ext>
            </a:extLst>
          </p:cNvPr>
          <p:cNvSpPr txBox="1"/>
          <p:nvPr/>
        </p:nvSpPr>
        <p:spPr>
          <a:xfrm>
            <a:off x="6705600" y="3098800"/>
            <a:ext cx="4470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렌탈 실물을 검색해 부위별로 지정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894F34F-695B-6144-85CD-2B704AB3D77D}"/>
              </a:ext>
            </a:extLst>
          </p:cNvPr>
          <p:cNvSpPr/>
          <p:nvPr/>
        </p:nvSpPr>
        <p:spPr>
          <a:xfrm>
            <a:off x="6502400" y="36576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E57339-3E0F-4C46-8B89-1675224A4F58}"/>
              </a:ext>
            </a:extLst>
          </p:cNvPr>
          <p:cNvSpPr txBox="1"/>
          <p:nvPr/>
        </p:nvSpPr>
        <p:spPr>
          <a:xfrm>
            <a:off x="6705600" y="3581400"/>
            <a:ext cx="4470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사이즈</a:t>
            </a:r>
            <a:r>
              <a:rPr lang="en-US" altLang="ko-KR" sz="1400">
                <a:solidFill>
                  <a:srgbClr val="33383F"/>
                </a:solidFill>
              </a:rPr>
              <a:t>·</a:t>
            </a:r>
            <a:r>
              <a:rPr lang="ko-KR" altLang="en-US" sz="1400">
                <a:solidFill>
                  <a:srgbClr val="33383F"/>
                </a:solidFill>
              </a:rPr>
              <a:t>컬러 지정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34FF3CF-A39C-4545-BB2F-08EC42E0D0DE}"/>
              </a:ext>
            </a:extLst>
          </p:cNvPr>
          <p:cNvSpPr/>
          <p:nvPr/>
        </p:nvSpPr>
        <p:spPr>
          <a:xfrm>
            <a:off x="6502400" y="41402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09A47-B8C7-D04D-A78A-8B0BC0C85123}"/>
              </a:ext>
            </a:extLst>
          </p:cNvPr>
          <p:cNvSpPr txBox="1"/>
          <p:nvPr/>
        </p:nvSpPr>
        <p:spPr>
          <a:xfrm>
            <a:off x="6705600" y="4064000"/>
            <a:ext cx="4470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dirty="0">
                <a:solidFill>
                  <a:srgbClr val="33383F"/>
                </a:solidFill>
              </a:rPr>
              <a:t>서명하면 자동 확정 </a:t>
            </a:r>
            <a:r>
              <a:rPr lang="en-US" altLang="ko-KR" sz="1400" dirty="0">
                <a:solidFill>
                  <a:srgbClr val="33383F"/>
                </a:solidFill>
              </a:rPr>
              <a:t>- </a:t>
            </a:r>
            <a:r>
              <a:rPr lang="ko-KR" altLang="en-US" sz="1400" dirty="0">
                <a:solidFill>
                  <a:srgbClr val="33383F"/>
                </a:solidFill>
              </a:rPr>
              <a:t>별도 제출 없음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B7E049B-4704-074A-91FE-86CA31144D8E}"/>
              </a:ext>
            </a:extLst>
          </p:cNvPr>
          <p:cNvSpPr/>
          <p:nvPr/>
        </p:nvSpPr>
        <p:spPr>
          <a:xfrm>
            <a:off x="6502400" y="46228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F678A2-13DE-CC4A-8860-782569072FC8}"/>
              </a:ext>
            </a:extLst>
          </p:cNvPr>
          <p:cNvSpPr txBox="1"/>
          <p:nvPr/>
        </p:nvSpPr>
        <p:spPr>
          <a:xfrm>
            <a:off x="6705600" y="4546600"/>
            <a:ext cx="4470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채촌 불필요 </a:t>
            </a:r>
            <a:r>
              <a:rPr lang="en-US" altLang="ko-KR" sz="1400">
                <a:solidFill>
                  <a:srgbClr val="33383F"/>
                </a:solidFill>
              </a:rPr>
              <a:t>· </a:t>
            </a:r>
            <a:r>
              <a:rPr lang="ko-KR" altLang="en-US" sz="1400">
                <a:solidFill>
                  <a:srgbClr val="33383F"/>
                </a:solidFill>
              </a:rPr>
              <a:t>확정 </a:t>
            </a:r>
            <a:r>
              <a:rPr lang="en-US" altLang="ko-KR" sz="1400">
                <a:solidFill>
                  <a:srgbClr val="33383F"/>
                </a:solidFill>
              </a:rPr>
              <a:t>= </a:t>
            </a:r>
            <a:r>
              <a:rPr lang="ko-KR" altLang="en-US" sz="1400">
                <a:solidFill>
                  <a:srgbClr val="33383F"/>
                </a:solidFill>
              </a:rPr>
              <a:t>발주 준비 완료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E0B784-C359-3842-85E6-F950CD33A758}"/>
              </a:ext>
            </a:extLst>
          </p:cNvPr>
          <p:cNvSpPr txBox="1"/>
          <p:nvPr/>
        </p:nvSpPr>
        <p:spPr>
          <a:xfrm>
            <a:off x="762000" y="53848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진행 방법   목록에서 계약 선택  →  옵션 선택</a:t>
            </a:r>
            <a:r>
              <a:rPr lang="en-US" altLang="ko-KR" sz="1400">
                <a:solidFill>
                  <a:srgbClr val="33383F"/>
                </a:solidFill>
              </a:rPr>
              <a:t>·</a:t>
            </a:r>
            <a:r>
              <a:rPr lang="ko-KR" altLang="en-US" sz="1400">
                <a:solidFill>
                  <a:srgbClr val="33383F"/>
                </a:solidFill>
              </a:rPr>
              <a:t>실물 지정  →  확정  →  계약서 </a:t>
            </a:r>
            <a:r>
              <a:rPr lang="en-US" altLang="ko-KR" sz="1400">
                <a:solidFill>
                  <a:srgbClr val="33383F"/>
                </a:solidFill>
              </a:rPr>
              <a:t>[</a:t>
            </a:r>
            <a:r>
              <a:rPr lang="ko-KR" altLang="en-US" sz="1400">
                <a:solidFill>
                  <a:srgbClr val="33383F"/>
                </a:solidFill>
              </a:rPr>
              <a:t>서명</a:t>
            </a:r>
            <a:r>
              <a:rPr lang="en-US" altLang="ko-KR" sz="1400">
                <a:solidFill>
                  <a:srgbClr val="33383F"/>
                </a:solidFill>
              </a:rPr>
              <a:t>] </a:t>
            </a:r>
            <a:r>
              <a:rPr lang="ko-KR" altLang="en-US" sz="1400">
                <a:solidFill>
                  <a:srgbClr val="33383F"/>
                </a:solidFill>
              </a:rPr>
              <a:t>활성화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06062F-8781-BB4F-90F6-5C179CB81936}"/>
              </a:ext>
            </a:extLst>
          </p:cNvPr>
          <p:cNvSpPr txBox="1"/>
          <p:nvPr/>
        </p:nvSpPr>
        <p:spPr>
          <a:xfrm>
            <a:off x="762000" y="5791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확정 완료는 서명 가능 조건이자 이후 발주의 전제조건입니다 </a:t>
            </a:r>
            <a:r>
              <a:rPr lang="en-US" altLang="ko-KR" sz="1400">
                <a:solidFill>
                  <a:srgbClr val="6E7B8B"/>
                </a:solidFill>
              </a:rPr>
              <a:t>· </a:t>
            </a:r>
            <a:r>
              <a:rPr lang="ko-KR" altLang="en-US" sz="1400">
                <a:solidFill>
                  <a:srgbClr val="6E7B8B"/>
                </a:solidFill>
              </a:rPr>
              <a:t>계약 목록의 ‘스타일 확정’ 수치와 항상 동일합니다</a:t>
            </a:r>
            <a:r>
              <a:rPr lang="en-US" altLang="ko-KR" sz="1400">
                <a:solidFill>
                  <a:srgbClr val="6E7B8B"/>
                </a:solidFill>
              </a:rPr>
              <a:t>.</a:t>
            </a:r>
            <a:endParaRPr lang="ko-KR" altLang="en-US" sz="1400">
              <a:solidFill>
                <a:srgbClr val="6E7B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884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71A07-1003-CBC1-3207-FC2DF3DC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668000" cy="533400"/>
          </a:xfrm>
        </p:spPr>
        <p:txBody>
          <a:bodyPr/>
          <a:lstStyle/>
          <a:p>
            <a:r>
              <a:rPr kumimoji="1" lang="en-US" altLang="ko-KR" dirty="0"/>
              <a:t>03 · </a:t>
            </a:r>
            <a:r>
              <a:rPr kumimoji="1" lang="ko-KR" altLang="en-US" dirty="0"/>
              <a:t>채촌 </a:t>
            </a:r>
            <a:r>
              <a:rPr lang="en-US" altLang="ko-KR" dirty="0">
                <a:solidFill>
                  <a:srgbClr val="33383F"/>
                </a:solidFill>
              </a:rPr>
              <a:t>-</a:t>
            </a:r>
            <a:r>
              <a:rPr kumimoji="1" lang="en-US" altLang="ko-KR" dirty="0"/>
              <a:t> </a:t>
            </a:r>
            <a:r>
              <a:rPr kumimoji="1" lang="ko-KR" altLang="en-US" dirty="0"/>
              <a:t>값이 든 </a:t>
            </a:r>
            <a:r>
              <a:rPr kumimoji="1" lang="ko-KR" altLang="en-US" dirty="0" err="1"/>
              <a:t>채촌이</a:t>
            </a:r>
            <a:r>
              <a:rPr kumimoji="1" lang="ko-KR" altLang="en-US" dirty="0"/>
              <a:t> 발주를 엽니다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6E4BB-C65E-0F48-9581-0586FD30A11E}"/>
              </a:ext>
            </a:extLst>
          </p:cNvPr>
          <p:cNvSpPr txBox="1"/>
          <p:nvPr/>
        </p:nvSpPr>
        <p:spPr>
          <a:xfrm>
            <a:off x="762000" y="11938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33383F"/>
                </a:solidFill>
              </a:rPr>
              <a:t>계약서가 어느 단계</a:t>
            </a:r>
            <a:r>
              <a:rPr lang="en-US" altLang="ko-KR" sz="1500">
                <a:solidFill>
                  <a:srgbClr val="33383F"/>
                </a:solidFill>
              </a:rPr>
              <a:t>(</a:t>
            </a:r>
            <a:r>
              <a:rPr lang="ko-KR" altLang="en-US" sz="1500">
                <a:solidFill>
                  <a:srgbClr val="33383F"/>
                </a:solidFill>
              </a:rPr>
              <a:t>작성중</a:t>
            </a:r>
            <a:r>
              <a:rPr lang="en-US" altLang="ko-KR" sz="1500">
                <a:solidFill>
                  <a:srgbClr val="33383F"/>
                </a:solidFill>
              </a:rPr>
              <a:t>·</a:t>
            </a:r>
            <a:r>
              <a:rPr lang="ko-KR" altLang="en-US" sz="1500">
                <a:solidFill>
                  <a:srgbClr val="33383F"/>
                </a:solidFill>
              </a:rPr>
              <a:t>서명완료</a:t>
            </a:r>
            <a:r>
              <a:rPr lang="en-US" altLang="ko-KR" sz="1500">
                <a:solidFill>
                  <a:srgbClr val="33383F"/>
                </a:solidFill>
              </a:rPr>
              <a:t>·</a:t>
            </a:r>
            <a:r>
              <a:rPr lang="ko-KR" altLang="en-US" sz="1500">
                <a:solidFill>
                  <a:srgbClr val="33383F"/>
                </a:solidFill>
              </a:rPr>
              <a:t>계약완료</a:t>
            </a:r>
            <a:r>
              <a:rPr lang="en-US" altLang="ko-KR" sz="1500">
                <a:solidFill>
                  <a:srgbClr val="33383F"/>
                </a:solidFill>
              </a:rPr>
              <a:t>)</a:t>
            </a:r>
            <a:r>
              <a:rPr lang="ko-KR" altLang="en-US" sz="1500">
                <a:solidFill>
                  <a:srgbClr val="33383F"/>
                </a:solidFill>
              </a:rPr>
              <a:t>든 입력할 수 있으며</a:t>
            </a:r>
            <a:r>
              <a:rPr lang="en-US" altLang="ko-KR" sz="1500">
                <a:solidFill>
                  <a:srgbClr val="33383F"/>
                </a:solidFill>
              </a:rPr>
              <a:t>, </a:t>
            </a:r>
            <a:r>
              <a:rPr lang="ko-KR" altLang="en-US" sz="1500">
                <a:solidFill>
                  <a:srgbClr val="33383F"/>
                </a:solidFill>
              </a:rPr>
              <a:t>계약완료 시점에 ‘스타일 컨설팅’ 구분의 값이 든 최신 채촌이 주문 품목에 자동 연결됩니다</a:t>
            </a:r>
            <a:r>
              <a:rPr lang="en-US" altLang="ko-KR" sz="1500">
                <a:solidFill>
                  <a:srgbClr val="33383F"/>
                </a:solidFill>
              </a:rPr>
              <a:t>.</a:t>
            </a:r>
            <a:endParaRPr lang="ko-KR" altLang="en-US" sz="1500">
              <a:solidFill>
                <a:srgbClr val="33383F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5739BB-E563-9446-AEF5-5F1D0FDD153C}"/>
              </a:ext>
            </a:extLst>
          </p:cNvPr>
          <p:cNvSpPr/>
          <p:nvPr/>
        </p:nvSpPr>
        <p:spPr>
          <a:xfrm>
            <a:off x="762000" y="1981200"/>
            <a:ext cx="3454400" cy="2133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C6EA6E-9201-CE4C-B5C8-0E3FFF895868}"/>
              </a:ext>
            </a:extLst>
          </p:cNvPr>
          <p:cNvSpPr/>
          <p:nvPr/>
        </p:nvSpPr>
        <p:spPr>
          <a:xfrm>
            <a:off x="762000" y="1981200"/>
            <a:ext cx="3454400" cy="38100"/>
          </a:xfrm>
          <a:prstGeom prst="rect">
            <a:avLst/>
          </a:prstGeom>
          <a:solidFill>
            <a:srgbClr val="A34B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24FBA-5980-D049-A567-4FC60D628CF5}"/>
              </a:ext>
            </a:extLst>
          </p:cNvPr>
          <p:cNvSpPr txBox="1"/>
          <p:nvPr/>
        </p:nvSpPr>
        <p:spPr>
          <a:xfrm>
            <a:off x="990600" y="2159000"/>
            <a:ext cx="2997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빈 채촌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61DA9-B332-E844-866B-9E9820D7EBB3}"/>
              </a:ext>
            </a:extLst>
          </p:cNvPr>
          <p:cNvSpPr txBox="1"/>
          <p:nvPr/>
        </p:nvSpPr>
        <p:spPr>
          <a:xfrm>
            <a:off x="990600" y="25146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값 </a:t>
            </a:r>
            <a:r>
              <a:rPr lang="en-US" altLang="ko-KR" sz="1400" b="1">
                <a:solidFill>
                  <a:srgbClr val="8A6D3B"/>
                </a:solidFill>
              </a:rPr>
              <a:t>0</a:t>
            </a:r>
            <a:r>
              <a:rPr lang="ko-KR" altLang="en-US" sz="1400" b="1">
                <a:solidFill>
                  <a:srgbClr val="8A6D3B"/>
                </a:solidFill>
              </a:rPr>
              <a:t>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C6D9A9-AA8B-9544-8646-5725093FE5F7}"/>
              </a:ext>
            </a:extLst>
          </p:cNvPr>
          <p:cNvSpPr/>
          <p:nvPr/>
        </p:nvSpPr>
        <p:spPr>
          <a:xfrm>
            <a:off x="990600" y="2870200"/>
            <a:ext cx="29972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E497F4-04F0-FC48-9AE6-393A17DFBE3F}"/>
              </a:ext>
            </a:extLst>
          </p:cNvPr>
          <p:cNvSpPr txBox="1"/>
          <p:nvPr/>
        </p:nvSpPr>
        <p:spPr>
          <a:xfrm>
            <a:off x="990600" y="2997200"/>
            <a:ext cx="2997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값 입력</a:t>
            </a:r>
            <a:r>
              <a:rPr lang="en-US" altLang="ko-KR" sz="1400">
                <a:solidFill>
                  <a:srgbClr val="33383F"/>
                </a:solidFill>
              </a:rPr>
              <a:t>·</a:t>
            </a:r>
            <a:r>
              <a:rPr lang="ko-KR" altLang="en-US" sz="1400">
                <a:solidFill>
                  <a:srgbClr val="33383F"/>
                </a:solidFill>
              </a:rPr>
              <a:t>삭제만 가능
품목에 연결되지 않음
→ 발주가 막힙니다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5E23C6-53C9-8243-8D5C-271B9A84430B}"/>
              </a:ext>
            </a:extLst>
          </p:cNvPr>
          <p:cNvSpPr/>
          <p:nvPr/>
        </p:nvSpPr>
        <p:spPr>
          <a:xfrm>
            <a:off x="4368800" y="1981200"/>
            <a:ext cx="3454400" cy="2133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1CABBA-7080-EB4C-9C57-DFB726D18D91}"/>
              </a:ext>
            </a:extLst>
          </p:cNvPr>
          <p:cNvSpPr/>
          <p:nvPr/>
        </p:nvSpPr>
        <p:spPr>
          <a:xfrm>
            <a:off x="4368800" y="1981200"/>
            <a:ext cx="3454400" cy="38100"/>
          </a:xfrm>
          <a:prstGeom prst="rect">
            <a:avLst/>
          </a:prstGeom>
          <a:solidFill>
            <a:srgbClr val="3E7C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41BDC-EFE5-E247-81D0-8E22AADA6EE3}"/>
              </a:ext>
            </a:extLst>
          </p:cNvPr>
          <p:cNvSpPr txBox="1"/>
          <p:nvPr/>
        </p:nvSpPr>
        <p:spPr>
          <a:xfrm>
            <a:off x="4597400" y="2159000"/>
            <a:ext cx="2997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완료 채촌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6455B8-AD69-DF42-A15F-656AE921020E}"/>
              </a:ext>
            </a:extLst>
          </p:cNvPr>
          <p:cNvSpPr txBox="1"/>
          <p:nvPr/>
        </p:nvSpPr>
        <p:spPr>
          <a:xfrm>
            <a:off x="4597400" y="25146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값 </a:t>
            </a:r>
            <a:r>
              <a:rPr lang="en-US" altLang="ko-KR" sz="1400" b="1">
                <a:solidFill>
                  <a:srgbClr val="8A6D3B"/>
                </a:solidFill>
              </a:rPr>
              <a:t>1</a:t>
            </a:r>
            <a:r>
              <a:rPr lang="ko-KR" altLang="en-US" sz="1400" b="1">
                <a:solidFill>
                  <a:srgbClr val="8A6D3B"/>
                </a:solidFill>
              </a:rPr>
              <a:t>개 이상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63CECA-09AC-0641-A539-56C5F3B0D2C5}"/>
              </a:ext>
            </a:extLst>
          </p:cNvPr>
          <p:cNvSpPr/>
          <p:nvPr/>
        </p:nvSpPr>
        <p:spPr>
          <a:xfrm>
            <a:off x="4597400" y="2870200"/>
            <a:ext cx="29972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548713-5FE6-3A4A-993E-A1EE1F44D178}"/>
              </a:ext>
            </a:extLst>
          </p:cNvPr>
          <p:cNvSpPr txBox="1"/>
          <p:nvPr/>
        </p:nvSpPr>
        <p:spPr>
          <a:xfrm>
            <a:off x="4597400" y="2997200"/>
            <a:ext cx="2997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편집</a:t>
            </a:r>
            <a:r>
              <a:rPr lang="en-US" altLang="ko-KR" sz="1400">
                <a:solidFill>
                  <a:srgbClr val="33383F"/>
                </a:solidFill>
              </a:rPr>
              <a:t>·</a:t>
            </a:r>
            <a:r>
              <a:rPr lang="ko-KR" altLang="en-US" sz="1400">
                <a:solidFill>
                  <a:srgbClr val="33383F"/>
                </a:solidFill>
              </a:rPr>
              <a:t>저장</a:t>
            </a:r>
            <a:r>
              <a:rPr lang="en-US" altLang="ko-KR" sz="1400">
                <a:solidFill>
                  <a:srgbClr val="33383F"/>
                </a:solidFill>
              </a:rPr>
              <a:t>·</a:t>
            </a:r>
            <a:r>
              <a:rPr lang="ko-KR" altLang="en-US" sz="1400">
                <a:solidFill>
                  <a:srgbClr val="33383F"/>
                </a:solidFill>
              </a:rPr>
              <a:t>삭제 가능
비교 </a:t>
            </a:r>
            <a:r>
              <a:rPr lang="en-US" altLang="ko-KR" sz="1400">
                <a:solidFill>
                  <a:srgbClr val="33383F"/>
                </a:solidFill>
              </a:rPr>
              <a:t>· </a:t>
            </a:r>
            <a:r>
              <a:rPr lang="ko-KR" altLang="en-US" sz="1400">
                <a:solidFill>
                  <a:srgbClr val="33383F"/>
                </a:solidFill>
              </a:rPr>
              <a:t>사진 첨부
→ 발주에 연결되는 대상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FBC216-9A27-3B47-9B51-CEDDD278B183}"/>
              </a:ext>
            </a:extLst>
          </p:cNvPr>
          <p:cNvSpPr/>
          <p:nvPr/>
        </p:nvSpPr>
        <p:spPr>
          <a:xfrm>
            <a:off x="7975600" y="1981200"/>
            <a:ext cx="3454400" cy="2133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DE9166-AAA2-A445-879E-5E3557D6F7C4}"/>
              </a:ext>
            </a:extLst>
          </p:cNvPr>
          <p:cNvSpPr/>
          <p:nvPr/>
        </p:nvSpPr>
        <p:spPr>
          <a:xfrm>
            <a:off x="7975600" y="1981200"/>
            <a:ext cx="3454400" cy="38100"/>
          </a:xfrm>
          <a:prstGeom prst="rect">
            <a:avLst/>
          </a:prstGeom>
          <a:solidFill>
            <a:srgbClr val="6E7B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FE48A-CFBE-864A-95B1-125D531D4C0E}"/>
              </a:ext>
            </a:extLst>
          </p:cNvPr>
          <p:cNvSpPr txBox="1"/>
          <p:nvPr/>
        </p:nvSpPr>
        <p:spPr>
          <a:xfrm>
            <a:off x="8204200" y="2159000"/>
            <a:ext cx="2997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6283C"/>
                </a:solidFill>
              </a:rPr>
              <a:t>잠긴 채촌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61DAB3-54B4-C04E-8EEB-DD208FA77EA8}"/>
              </a:ext>
            </a:extLst>
          </p:cNvPr>
          <p:cNvSpPr txBox="1"/>
          <p:nvPr/>
        </p:nvSpPr>
        <p:spPr>
          <a:xfrm>
            <a:off x="8204200" y="2514600"/>
            <a:ext cx="2997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계약완료</a:t>
            </a:r>
            <a:r>
              <a:rPr lang="en-US" altLang="ko-KR" sz="1400" b="1">
                <a:solidFill>
                  <a:srgbClr val="8A6D3B"/>
                </a:solidFill>
              </a:rPr>
              <a:t>·</a:t>
            </a:r>
            <a:r>
              <a:rPr lang="ko-KR" altLang="en-US" sz="1400" b="1">
                <a:solidFill>
                  <a:srgbClr val="8A6D3B"/>
                </a:solidFill>
              </a:rPr>
              <a:t>발주 이후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1F9A36-CD84-8B4A-80DA-E3A767A9A726}"/>
              </a:ext>
            </a:extLst>
          </p:cNvPr>
          <p:cNvSpPr/>
          <p:nvPr/>
        </p:nvSpPr>
        <p:spPr>
          <a:xfrm>
            <a:off x="8204200" y="2870200"/>
            <a:ext cx="29972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69F819-53CB-394F-B792-75291B7C0F58}"/>
              </a:ext>
            </a:extLst>
          </p:cNvPr>
          <p:cNvSpPr txBox="1"/>
          <p:nvPr/>
        </p:nvSpPr>
        <p:spPr>
          <a:xfrm>
            <a:off x="8204200" y="2997200"/>
            <a:ext cx="2997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보기 전용 </a:t>
            </a:r>
            <a:r>
              <a:rPr lang="en-US" altLang="ko-KR" sz="1400">
                <a:solidFill>
                  <a:srgbClr val="33383F"/>
                </a:solidFill>
              </a:rPr>
              <a:t>(</a:t>
            </a:r>
            <a:r>
              <a:rPr lang="ko-KR" altLang="en-US" sz="1400">
                <a:solidFill>
                  <a:srgbClr val="33383F"/>
                </a:solidFill>
              </a:rPr>
              <a:t>공장 작업 시작</a:t>
            </a:r>
            <a:r>
              <a:rPr lang="en-US" altLang="ko-KR" sz="1400">
                <a:solidFill>
                  <a:srgbClr val="33383F"/>
                </a:solidFill>
              </a:rPr>
              <a:t>)
</a:t>
            </a:r>
            <a:r>
              <a:rPr lang="ko-KR" altLang="en-US" sz="1400">
                <a:solidFill>
                  <a:srgbClr val="33383F"/>
                </a:solidFill>
              </a:rPr>
              <a:t>수정하려면 </a:t>
            </a:r>
            <a:r>
              <a:rPr lang="en-US" altLang="ko-KR" sz="1400">
                <a:solidFill>
                  <a:srgbClr val="33383F"/>
                </a:solidFill>
              </a:rPr>
              <a:t>[</a:t>
            </a:r>
            <a:r>
              <a:rPr lang="ko-KR" altLang="en-US" sz="1400">
                <a:solidFill>
                  <a:srgbClr val="33383F"/>
                </a:solidFill>
              </a:rPr>
              <a:t>복사</a:t>
            </a:r>
            <a:r>
              <a:rPr lang="en-US" altLang="ko-KR" sz="1400">
                <a:solidFill>
                  <a:srgbClr val="33383F"/>
                </a:solidFill>
              </a:rPr>
              <a:t>]</a:t>
            </a:r>
            <a:r>
              <a:rPr lang="ko-KR" altLang="en-US" sz="1400">
                <a:solidFill>
                  <a:srgbClr val="33383F"/>
                </a:solidFill>
              </a:rPr>
              <a:t>로 새 기록
생성 후 재발주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E7B5B1-E98E-E143-A225-DB3679E40E7A}"/>
              </a:ext>
            </a:extLst>
          </p:cNvPr>
          <p:cNvSpPr txBox="1"/>
          <p:nvPr/>
        </p:nvSpPr>
        <p:spPr>
          <a:xfrm>
            <a:off x="762000" y="43688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주요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DA0F5D-67C0-524D-8B49-21E059175DDD}"/>
              </a:ext>
            </a:extLst>
          </p:cNvPr>
          <p:cNvSpPr txBox="1"/>
          <p:nvPr/>
        </p:nvSpPr>
        <p:spPr>
          <a:xfrm>
            <a:off x="762000" y="4699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3383F"/>
                </a:solidFill>
              </a:rPr>
              <a:t>태블릿 가상 </a:t>
            </a:r>
            <a:r>
              <a:rPr lang="ko-KR" altLang="en-US" sz="1400" dirty="0" err="1">
                <a:solidFill>
                  <a:srgbClr val="33383F"/>
                </a:solidFill>
              </a:rPr>
              <a:t>키패드</a:t>
            </a:r>
            <a:r>
              <a:rPr lang="ko-KR" altLang="en-US" sz="1400" dirty="0">
                <a:solidFill>
                  <a:srgbClr val="33383F"/>
                </a:solidFill>
              </a:rPr>
              <a:t> 입력 </a:t>
            </a:r>
            <a:r>
              <a:rPr lang="en-US" altLang="ko-KR" sz="1400" dirty="0">
                <a:solidFill>
                  <a:srgbClr val="33383F"/>
                </a:solidFill>
              </a:rPr>
              <a:t>· </a:t>
            </a:r>
            <a:r>
              <a:rPr lang="en" altLang="ko-KR" sz="1400" dirty="0">
                <a:solidFill>
                  <a:srgbClr val="33383F"/>
                </a:solidFill>
              </a:rPr>
              <a:t>cm ↔ </a:t>
            </a:r>
            <a:r>
              <a:rPr lang="ko-KR" altLang="en-US" sz="1400" dirty="0">
                <a:solidFill>
                  <a:srgbClr val="33383F"/>
                </a:solidFill>
              </a:rPr>
              <a:t>인치 보기</a:t>
            </a:r>
            <a:r>
              <a:rPr lang="en-US" altLang="ko-KR" sz="1400" dirty="0">
                <a:solidFill>
                  <a:srgbClr val="33383F"/>
                </a:solidFill>
              </a:rPr>
              <a:t>(</a:t>
            </a:r>
            <a:r>
              <a:rPr lang="ko-KR" altLang="en-US" sz="1400" dirty="0">
                <a:solidFill>
                  <a:srgbClr val="33383F"/>
                </a:solidFill>
              </a:rPr>
              <a:t>저장은 </a:t>
            </a:r>
            <a:r>
              <a:rPr lang="en" altLang="ko-KR" sz="1400" dirty="0">
                <a:solidFill>
                  <a:srgbClr val="33383F"/>
                </a:solidFill>
              </a:rPr>
              <a:t>cm) · </a:t>
            </a:r>
            <a:r>
              <a:rPr lang="ko-KR" altLang="en-US" sz="1400" dirty="0">
                <a:solidFill>
                  <a:srgbClr val="33383F"/>
                </a:solidFill>
              </a:rPr>
              <a:t>직전 채촌 불러오기 </a:t>
            </a:r>
            <a:r>
              <a:rPr lang="en-US" altLang="ko-KR" sz="1400" dirty="0">
                <a:solidFill>
                  <a:srgbClr val="33383F"/>
                </a:solidFill>
              </a:rPr>
              <a:t>· </a:t>
            </a:r>
            <a:r>
              <a:rPr lang="ko-KR" altLang="en-US" sz="1400" dirty="0">
                <a:solidFill>
                  <a:srgbClr val="33383F"/>
                </a:solidFill>
              </a:rPr>
              <a:t>두 버전 비교 </a:t>
            </a:r>
            <a:r>
              <a:rPr lang="en-US" altLang="ko-KR" sz="1400" dirty="0">
                <a:solidFill>
                  <a:srgbClr val="33383F"/>
                </a:solidFill>
              </a:rPr>
              <a:t>· </a:t>
            </a:r>
            <a:r>
              <a:rPr lang="ko-KR" altLang="en-US" sz="1400" dirty="0">
                <a:solidFill>
                  <a:srgbClr val="33383F"/>
                </a:solidFill>
              </a:rPr>
              <a:t>사진 </a:t>
            </a:r>
            <a:r>
              <a:rPr lang="en-US" altLang="ko-KR" sz="1400" dirty="0">
                <a:solidFill>
                  <a:srgbClr val="33383F"/>
                </a:solidFill>
              </a:rPr>
              <a:t>50</a:t>
            </a:r>
            <a:r>
              <a:rPr lang="ko-KR" altLang="en-US" sz="1400" dirty="0">
                <a:solidFill>
                  <a:srgbClr val="33383F"/>
                </a:solidFill>
              </a:rPr>
              <a:t>장 </a:t>
            </a:r>
            <a:r>
              <a:rPr lang="en-US" altLang="ko-KR" sz="1400" dirty="0">
                <a:solidFill>
                  <a:srgbClr val="33383F"/>
                </a:solidFill>
              </a:rPr>
              <a:t>· </a:t>
            </a:r>
            <a:r>
              <a:rPr lang="ko-KR" altLang="en-US" sz="1400" dirty="0" err="1">
                <a:solidFill>
                  <a:srgbClr val="33383F"/>
                </a:solidFill>
              </a:rPr>
              <a:t>선호핏</a:t>
            </a:r>
            <a:r>
              <a:rPr lang="en-US" altLang="ko-KR" sz="1400" dirty="0">
                <a:solidFill>
                  <a:srgbClr val="33383F"/>
                </a:solidFill>
              </a:rPr>
              <a:t>/</a:t>
            </a:r>
            <a:r>
              <a:rPr lang="ko-KR" altLang="en-US" sz="1400" dirty="0">
                <a:solidFill>
                  <a:srgbClr val="33383F"/>
                </a:solidFill>
              </a:rPr>
              <a:t>체형 메모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D5B77EC-D44A-DC43-96FE-78F2EF1E08E3}"/>
              </a:ext>
            </a:extLst>
          </p:cNvPr>
          <p:cNvSpPr/>
          <p:nvPr/>
        </p:nvSpPr>
        <p:spPr>
          <a:xfrm>
            <a:off x="762000" y="5181600"/>
            <a:ext cx="10668000" cy="660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7D881D-CB17-1049-9977-37D9838B8A36}"/>
              </a:ext>
            </a:extLst>
          </p:cNvPr>
          <p:cNvSpPr/>
          <p:nvPr/>
        </p:nvSpPr>
        <p:spPr>
          <a:xfrm>
            <a:off x="762000" y="5181600"/>
            <a:ext cx="50800" cy="660400"/>
          </a:xfrm>
          <a:prstGeom prst="rect">
            <a:avLst/>
          </a:prstGeom>
          <a:solidFill>
            <a:srgbClr val="A34B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BAD08-4D8A-5D45-BDAC-8BB2ACC83E38}"/>
              </a:ext>
            </a:extLst>
          </p:cNvPr>
          <p:cNvSpPr txBox="1"/>
          <p:nvPr/>
        </p:nvSpPr>
        <p:spPr>
          <a:xfrm>
            <a:off x="1016000" y="5283200"/>
            <a:ext cx="1016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b="1" dirty="0">
                <a:solidFill>
                  <a:srgbClr val="A34B3C"/>
                </a:solidFill>
              </a:rPr>
              <a:t>빈 채촌 주의 </a:t>
            </a:r>
            <a:r>
              <a:rPr lang="en-US" altLang="ko-KR" sz="1400" dirty="0">
                <a:solidFill>
                  <a:srgbClr val="33383F"/>
                </a:solidFill>
              </a:rPr>
              <a:t>-</a:t>
            </a:r>
            <a:r>
              <a:rPr lang="en-US" altLang="ko-KR" sz="1400" b="1" dirty="0">
                <a:solidFill>
                  <a:srgbClr val="A34B3C"/>
                </a:solidFill>
              </a:rPr>
              <a:t> </a:t>
            </a:r>
            <a:r>
              <a:rPr lang="ko-KR" altLang="en-US" sz="1400" b="1" dirty="0">
                <a:solidFill>
                  <a:srgbClr val="A34B3C"/>
                </a:solidFill>
              </a:rPr>
              <a:t>값 없이 저장하면 목록에는 ‘</a:t>
            </a:r>
            <a:r>
              <a:rPr lang="ko-KR" altLang="en-US" sz="1400" b="1" dirty="0" err="1">
                <a:solidFill>
                  <a:srgbClr val="A34B3C"/>
                </a:solidFill>
              </a:rPr>
              <a:t>완료’처럼</a:t>
            </a:r>
            <a:r>
              <a:rPr lang="ko-KR" altLang="en-US" sz="1400" b="1" dirty="0">
                <a:solidFill>
                  <a:srgbClr val="A34B3C"/>
                </a:solidFill>
              </a:rPr>
              <a:t> 보여도 발주 화면에서는 미완료로 처리됩니다</a:t>
            </a:r>
            <a:r>
              <a:rPr lang="en-US" altLang="ko-KR" sz="1400" b="1" dirty="0">
                <a:solidFill>
                  <a:srgbClr val="A34B3C"/>
                </a:solidFill>
              </a:rPr>
              <a:t>. </a:t>
            </a:r>
            <a:r>
              <a:rPr lang="ko-KR" altLang="en-US" sz="1400" b="1" dirty="0">
                <a:solidFill>
                  <a:srgbClr val="A34B3C"/>
                </a:solidFill>
              </a:rPr>
              <a:t>반드시 치수를 입력해 저장하세요</a:t>
            </a:r>
            <a:r>
              <a:rPr lang="en-US" altLang="ko-KR" sz="1400" b="1" dirty="0">
                <a:solidFill>
                  <a:srgbClr val="A34B3C"/>
                </a:solidFill>
              </a:rPr>
              <a:t>.</a:t>
            </a:r>
            <a:endParaRPr lang="ko-KR" altLang="en-US" sz="1400" b="1" dirty="0">
              <a:solidFill>
                <a:srgbClr val="A34B3C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1B8752-5780-D547-8C3F-EECE06D416B6}"/>
              </a:ext>
            </a:extLst>
          </p:cNvPr>
          <p:cNvSpPr txBox="1"/>
          <p:nvPr/>
        </p:nvSpPr>
        <p:spPr>
          <a:xfrm>
            <a:off x="762000" y="6019800"/>
            <a:ext cx="1066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dirty="0" err="1">
                <a:solidFill>
                  <a:srgbClr val="6E7B8B"/>
                </a:solidFill>
              </a:rPr>
              <a:t>렌탈</a:t>
            </a:r>
            <a:r>
              <a:rPr lang="ko-KR" altLang="en-US" sz="1400" dirty="0">
                <a:solidFill>
                  <a:srgbClr val="6E7B8B"/>
                </a:solidFill>
              </a:rPr>
              <a:t> 품목은 </a:t>
            </a:r>
            <a:r>
              <a:rPr lang="ko-KR" altLang="en-US" sz="1400" dirty="0" err="1">
                <a:solidFill>
                  <a:srgbClr val="6E7B8B"/>
                </a:solidFill>
              </a:rPr>
              <a:t>채촌을</a:t>
            </a:r>
            <a:r>
              <a:rPr lang="ko-KR" altLang="en-US" sz="1400" dirty="0">
                <a:solidFill>
                  <a:srgbClr val="6E7B8B"/>
                </a:solidFill>
              </a:rPr>
              <a:t> 재지 않습니다 </a:t>
            </a:r>
            <a:r>
              <a:rPr lang="en-US" altLang="ko-KR" sz="1400" dirty="0">
                <a:solidFill>
                  <a:srgbClr val="33383F"/>
                </a:solidFill>
              </a:rPr>
              <a:t>-</a:t>
            </a:r>
            <a:r>
              <a:rPr lang="en-US" altLang="ko-KR" sz="1400" dirty="0">
                <a:solidFill>
                  <a:srgbClr val="6E7B8B"/>
                </a:solidFill>
              </a:rPr>
              <a:t> </a:t>
            </a:r>
            <a:r>
              <a:rPr lang="ko-KR" altLang="en-US" sz="1400" dirty="0">
                <a:solidFill>
                  <a:srgbClr val="6E7B8B"/>
                </a:solidFill>
              </a:rPr>
              <a:t>컨설팅 확정만으로 발주 준비가 완료됩니다</a:t>
            </a:r>
            <a:r>
              <a:rPr lang="en-US" altLang="ko-KR" sz="1400" dirty="0">
                <a:solidFill>
                  <a:srgbClr val="6E7B8B"/>
                </a:solidFill>
              </a:rPr>
              <a:t>.</a:t>
            </a:r>
            <a:endParaRPr lang="ko-KR" altLang="en-US" sz="1400" dirty="0">
              <a:solidFill>
                <a:srgbClr val="6E7B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07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C3809-925D-989B-6A9C-FC1C1213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668000" cy="533400"/>
          </a:xfrm>
        </p:spPr>
        <p:txBody>
          <a:bodyPr/>
          <a:lstStyle/>
          <a:p>
            <a:r>
              <a:rPr kumimoji="1" lang="en-US" altLang="ko-KR" dirty="0"/>
              <a:t>04 · </a:t>
            </a:r>
            <a:r>
              <a:rPr kumimoji="1" lang="ko-KR" altLang="en-US" dirty="0"/>
              <a:t>작업 관리 </a:t>
            </a:r>
            <a:r>
              <a:rPr lang="en-US" altLang="ko-KR" dirty="0">
                <a:solidFill>
                  <a:srgbClr val="33383F"/>
                </a:solidFill>
              </a:rPr>
              <a:t>-</a:t>
            </a:r>
            <a:r>
              <a:rPr kumimoji="1" lang="en-US" altLang="ko-KR" dirty="0"/>
              <a:t> </a:t>
            </a:r>
            <a:r>
              <a:rPr kumimoji="1" lang="ko-KR" altLang="en-US" dirty="0"/>
              <a:t>발주와 제작 진행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425C1F-8B74-0741-ABC5-252A250D2FB9}"/>
              </a:ext>
            </a:extLst>
          </p:cNvPr>
          <p:cNvSpPr/>
          <p:nvPr/>
        </p:nvSpPr>
        <p:spPr>
          <a:xfrm>
            <a:off x="762000" y="1270000"/>
            <a:ext cx="1905000" cy="558800"/>
          </a:xfrm>
          <a:prstGeom prst="rect">
            <a:avLst/>
          </a:prstGeom>
          <a:solidFill>
            <a:srgbClr val="16283C"/>
          </a:solidFill>
          <a:ln w="9525" cap="flat" cmpd="sng" algn="ctr">
            <a:solidFill>
              <a:srgbClr val="CBD3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</a:rPr>
              <a:t>발주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4393F-5598-584D-990C-49CF96D25C76}"/>
              </a:ext>
            </a:extLst>
          </p:cNvPr>
          <p:cNvSpPr txBox="1"/>
          <p:nvPr/>
        </p:nvSpPr>
        <p:spPr>
          <a:xfrm>
            <a:off x="2667000" y="1371600"/>
            <a:ext cx="27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B08D57"/>
                </a:solidFill>
              </a:rPr>
              <a:t>›</a:t>
            </a:r>
            <a:endParaRPr lang="ko-KR" altLang="en-US" sz="2000">
              <a:solidFill>
                <a:srgbClr val="B08D57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8F890A-A82D-094A-9B38-FA54879DE2A1}"/>
              </a:ext>
            </a:extLst>
          </p:cNvPr>
          <p:cNvSpPr/>
          <p:nvPr/>
        </p:nvSpPr>
        <p:spPr>
          <a:xfrm>
            <a:off x="2946400" y="1270000"/>
            <a:ext cx="1905000" cy="558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CBD3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제작요청 </a:t>
            </a:r>
            <a:r>
              <a:rPr lang="en-US" altLang="ko-KR" sz="1500" b="1">
                <a:solidFill>
                  <a:srgbClr val="16283C"/>
                </a:solidFill>
              </a:rPr>
              <a:t>(</a:t>
            </a:r>
            <a:r>
              <a:rPr lang="ko-KR" altLang="en-US" sz="1500" b="1">
                <a:solidFill>
                  <a:srgbClr val="16283C"/>
                </a:solidFill>
              </a:rPr>
              <a:t>발주</a:t>
            </a:r>
            <a:r>
              <a:rPr lang="en-US" altLang="ko-KR" sz="1500" b="1">
                <a:solidFill>
                  <a:srgbClr val="16283C"/>
                </a:solidFill>
              </a:rPr>
              <a:t>)</a:t>
            </a:r>
            <a:endParaRPr lang="ko-KR" altLang="en-US" sz="1500" b="1">
              <a:solidFill>
                <a:srgbClr val="16283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AB712-C82D-474F-B029-7711BFDBC046}"/>
              </a:ext>
            </a:extLst>
          </p:cNvPr>
          <p:cNvSpPr txBox="1"/>
          <p:nvPr/>
        </p:nvSpPr>
        <p:spPr>
          <a:xfrm>
            <a:off x="4851400" y="1371600"/>
            <a:ext cx="27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B08D57"/>
                </a:solidFill>
              </a:rPr>
              <a:t>›</a:t>
            </a:r>
            <a:endParaRPr lang="ko-KR" altLang="en-US" sz="2000">
              <a:solidFill>
                <a:srgbClr val="B08D57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733183-DABA-384F-AFEE-CF18260AAB2E}"/>
              </a:ext>
            </a:extLst>
          </p:cNvPr>
          <p:cNvSpPr/>
          <p:nvPr/>
        </p:nvSpPr>
        <p:spPr>
          <a:xfrm>
            <a:off x="5130800" y="1270000"/>
            <a:ext cx="1905000" cy="558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CBD3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제작중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13582-9C33-C84C-BA1B-0AA221E45252}"/>
              </a:ext>
            </a:extLst>
          </p:cNvPr>
          <p:cNvSpPr txBox="1"/>
          <p:nvPr/>
        </p:nvSpPr>
        <p:spPr>
          <a:xfrm>
            <a:off x="7035800" y="1371600"/>
            <a:ext cx="27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B08D57"/>
                </a:solidFill>
              </a:rPr>
              <a:t>›</a:t>
            </a:r>
            <a:endParaRPr lang="ko-KR" altLang="en-US" sz="2000">
              <a:solidFill>
                <a:srgbClr val="B08D57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A6C20D-1A43-9F44-9C00-EEE9A4289FE7}"/>
              </a:ext>
            </a:extLst>
          </p:cNvPr>
          <p:cNvSpPr/>
          <p:nvPr/>
        </p:nvSpPr>
        <p:spPr>
          <a:xfrm>
            <a:off x="7315200" y="1270000"/>
            <a:ext cx="1905000" cy="558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CBD3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입고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D90D8-50F5-7549-9A91-12394968B31D}"/>
              </a:ext>
            </a:extLst>
          </p:cNvPr>
          <p:cNvSpPr txBox="1"/>
          <p:nvPr/>
        </p:nvSpPr>
        <p:spPr>
          <a:xfrm>
            <a:off x="9220200" y="1371600"/>
            <a:ext cx="27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>
                <a:solidFill>
                  <a:srgbClr val="B08D57"/>
                </a:solidFill>
              </a:rPr>
              <a:t>›</a:t>
            </a:r>
            <a:endParaRPr lang="ko-KR" altLang="en-US" sz="2000">
              <a:solidFill>
                <a:srgbClr val="B08D57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53349D-CD45-714B-A1BE-436C57F47162}"/>
              </a:ext>
            </a:extLst>
          </p:cNvPr>
          <p:cNvSpPr/>
          <p:nvPr/>
        </p:nvSpPr>
        <p:spPr>
          <a:xfrm>
            <a:off x="9499600" y="1270000"/>
            <a:ext cx="1905000" cy="558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CBD3D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출고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7302CC4-4CCF-0248-B46F-5F34DE696BE7}"/>
              </a:ext>
            </a:extLst>
          </p:cNvPr>
          <p:cNvSpPr/>
          <p:nvPr/>
        </p:nvSpPr>
        <p:spPr>
          <a:xfrm>
            <a:off x="762000" y="2171700"/>
            <a:ext cx="127000" cy="127000"/>
          </a:xfrm>
          <a:prstGeom prst="ellipse">
            <a:avLst/>
          </a:prstGeom>
          <a:solidFill>
            <a:srgbClr val="3E7C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2D4A7-21A1-1648-866F-64E3EEC34FC5}"/>
              </a:ext>
            </a:extLst>
          </p:cNvPr>
          <p:cNvSpPr txBox="1"/>
          <p:nvPr/>
        </p:nvSpPr>
        <p:spPr>
          <a:xfrm>
            <a:off x="1016000" y="21082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맞춤 트랙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1BDBA-6C32-2545-B648-F2FD22C99436}"/>
              </a:ext>
            </a:extLst>
          </p:cNvPr>
          <p:cNvSpPr txBox="1"/>
          <p:nvPr/>
        </p:nvSpPr>
        <p:spPr>
          <a:xfrm>
            <a:off x="2260600" y="2108200"/>
            <a:ext cx="916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제작 발주 → 가봉 입고 → 가봉 피팅 → 완성복 입고 → 완성복 출고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E1015A1-AF5F-794F-B682-D8A7F6D32D86}"/>
              </a:ext>
            </a:extLst>
          </p:cNvPr>
          <p:cNvSpPr/>
          <p:nvPr/>
        </p:nvSpPr>
        <p:spPr>
          <a:xfrm>
            <a:off x="762000" y="2527300"/>
            <a:ext cx="127000" cy="127000"/>
          </a:xfrm>
          <a:prstGeom prst="ellipse">
            <a:avLst/>
          </a:prstGeom>
          <a:solidFill>
            <a:srgbClr val="7A5C8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7EE0A5-7FD6-604E-87BB-FF6BB23ABD75}"/>
              </a:ext>
            </a:extLst>
          </p:cNvPr>
          <p:cNvSpPr txBox="1"/>
          <p:nvPr/>
        </p:nvSpPr>
        <p:spPr>
          <a:xfrm>
            <a:off x="1016000" y="24638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렌탈 트랙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D592AB-239C-D34A-8E5D-79274A96C6A2}"/>
              </a:ext>
            </a:extLst>
          </p:cNvPr>
          <p:cNvSpPr txBox="1"/>
          <p:nvPr/>
        </p:nvSpPr>
        <p:spPr>
          <a:xfrm>
            <a:off x="2260600" y="2463800"/>
            <a:ext cx="916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렌탈 수선 요청 → 수선 입고 → 렌탈 출고 → 렌탈 반납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5C9527-73DB-7541-B7DA-2736FEE8E4E7}"/>
              </a:ext>
            </a:extLst>
          </p:cNvPr>
          <p:cNvSpPr/>
          <p:nvPr/>
        </p:nvSpPr>
        <p:spPr>
          <a:xfrm>
            <a:off x="762000" y="3022600"/>
            <a:ext cx="5181600" cy="2362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810ECE-0AB7-F640-8712-7E9B620B1618}"/>
              </a:ext>
            </a:extLst>
          </p:cNvPr>
          <p:cNvSpPr/>
          <p:nvPr/>
        </p:nvSpPr>
        <p:spPr>
          <a:xfrm>
            <a:off x="762000" y="3022600"/>
            <a:ext cx="5181600" cy="38100"/>
          </a:xfrm>
          <a:prstGeom prst="rect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26B56-23AF-A948-97F4-C943EB9BD5F0}"/>
              </a:ext>
            </a:extLst>
          </p:cNvPr>
          <p:cNvSpPr txBox="1"/>
          <p:nvPr/>
        </p:nvSpPr>
        <p:spPr>
          <a:xfrm>
            <a:off x="990600" y="3200400"/>
            <a:ext cx="472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발주 팝업에서 하는 일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6EA4B4C-354A-6045-835D-EA195B83516D}"/>
              </a:ext>
            </a:extLst>
          </p:cNvPr>
          <p:cNvSpPr/>
          <p:nvPr/>
        </p:nvSpPr>
        <p:spPr>
          <a:xfrm>
            <a:off x="990600" y="36830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19FB79-CB08-814B-BA75-C478F7C96496}"/>
              </a:ext>
            </a:extLst>
          </p:cNvPr>
          <p:cNvSpPr txBox="1"/>
          <p:nvPr/>
        </p:nvSpPr>
        <p:spPr>
          <a:xfrm>
            <a:off x="1168400" y="3606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컨설팅 확정 상태 </a:t>
            </a:r>
            <a:r>
              <a:rPr lang="en-US" altLang="ko-KR" sz="1400">
                <a:solidFill>
                  <a:srgbClr val="33383F"/>
                </a:solidFill>
              </a:rPr>
              <a:t>· </a:t>
            </a:r>
            <a:r>
              <a:rPr lang="ko-KR" altLang="en-US" sz="1400">
                <a:solidFill>
                  <a:srgbClr val="33383F"/>
                </a:solidFill>
              </a:rPr>
              <a:t>연결 채촌 확인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DD1A023-CE55-6942-B7AC-00A274B88E0B}"/>
              </a:ext>
            </a:extLst>
          </p:cNvPr>
          <p:cNvSpPr/>
          <p:nvPr/>
        </p:nvSpPr>
        <p:spPr>
          <a:xfrm>
            <a:off x="990600" y="40259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5F9B0-E298-7545-BB0F-4F0392972B5D}"/>
              </a:ext>
            </a:extLst>
          </p:cNvPr>
          <p:cNvSpPr txBox="1"/>
          <p:nvPr/>
        </p:nvSpPr>
        <p:spPr>
          <a:xfrm>
            <a:off x="1168400" y="3949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다른 완료 채촌으로 교체 </a:t>
            </a:r>
            <a:r>
              <a:rPr lang="en-US" altLang="ko-KR" sz="1400">
                <a:solidFill>
                  <a:srgbClr val="33383F"/>
                </a:solidFill>
              </a:rPr>
              <a:t>(</a:t>
            </a:r>
            <a:r>
              <a:rPr lang="ko-KR" altLang="en-US" sz="1400">
                <a:solidFill>
                  <a:srgbClr val="33383F"/>
                </a:solidFill>
              </a:rPr>
              <a:t>발주 전에만</a:t>
            </a:r>
            <a:r>
              <a:rPr lang="en-US" altLang="ko-KR" sz="1400">
                <a:solidFill>
                  <a:srgbClr val="33383F"/>
                </a:solidFill>
              </a:rPr>
              <a:t>)</a:t>
            </a:r>
            <a:endParaRPr lang="ko-KR" altLang="en-US" sz="1400">
              <a:solidFill>
                <a:srgbClr val="33383F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D1625A8-7638-0849-87B8-7737ACB2C44F}"/>
              </a:ext>
            </a:extLst>
          </p:cNvPr>
          <p:cNvSpPr/>
          <p:nvPr/>
        </p:nvSpPr>
        <p:spPr>
          <a:xfrm>
            <a:off x="990600" y="43688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730463-D765-B749-B437-2C702DB96AB4}"/>
              </a:ext>
            </a:extLst>
          </p:cNvPr>
          <p:cNvSpPr txBox="1"/>
          <p:nvPr/>
        </p:nvSpPr>
        <p:spPr>
          <a:xfrm>
            <a:off x="1168400" y="4292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작업지시서 미리보기 </a:t>
            </a:r>
            <a:r>
              <a:rPr lang="en-US" altLang="ko-KR" sz="1400">
                <a:solidFill>
                  <a:srgbClr val="33383F"/>
                </a:solidFill>
              </a:rPr>
              <a:t>· </a:t>
            </a:r>
            <a:r>
              <a:rPr lang="ko-KR" altLang="en-US" sz="1400">
                <a:solidFill>
                  <a:srgbClr val="33383F"/>
                </a:solidFill>
              </a:rPr>
              <a:t>출력 </a:t>
            </a:r>
            <a:r>
              <a:rPr lang="en-US" altLang="ko-KR" sz="1400">
                <a:solidFill>
                  <a:srgbClr val="33383F"/>
                </a:solidFill>
              </a:rPr>
              <a:t>· </a:t>
            </a:r>
            <a:r>
              <a:rPr lang="ko-KR" altLang="en-US" sz="1400">
                <a:solidFill>
                  <a:srgbClr val="33383F"/>
                </a:solidFill>
              </a:rPr>
              <a:t>인쇄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1EC96DA-D430-C746-8102-BF9618CAA86C}"/>
              </a:ext>
            </a:extLst>
          </p:cNvPr>
          <p:cNvSpPr/>
          <p:nvPr/>
        </p:nvSpPr>
        <p:spPr>
          <a:xfrm>
            <a:off x="990600" y="47117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A2C7FE-0D74-2B44-AE68-75A4033318F8}"/>
              </a:ext>
            </a:extLst>
          </p:cNvPr>
          <p:cNvSpPr txBox="1"/>
          <p:nvPr/>
        </p:nvSpPr>
        <p:spPr>
          <a:xfrm>
            <a:off x="1168400" y="4635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최종본</a:t>
            </a:r>
            <a:r>
              <a:rPr lang="en-US" altLang="ko-KR" sz="1400">
                <a:solidFill>
                  <a:srgbClr val="33383F"/>
                </a:solidFill>
              </a:rPr>
              <a:t>(</a:t>
            </a:r>
            <a:r>
              <a:rPr lang="ko-KR" altLang="en-US" sz="1400">
                <a:solidFill>
                  <a:srgbClr val="33383F"/>
                </a:solidFill>
              </a:rPr>
              <a:t>수기 파일</a:t>
            </a:r>
            <a:r>
              <a:rPr lang="en-US" altLang="ko-KR" sz="1400">
                <a:solidFill>
                  <a:srgbClr val="33383F"/>
                </a:solidFill>
              </a:rPr>
              <a:t>) </a:t>
            </a:r>
            <a:r>
              <a:rPr lang="ko-KR" altLang="en-US" sz="1400">
                <a:solidFill>
                  <a:srgbClr val="33383F"/>
                </a:solidFill>
              </a:rPr>
              <a:t>업로드 </a:t>
            </a:r>
            <a:r>
              <a:rPr lang="en-US" altLang="ko-KR" sz="1400">
                <a:solidFill>
                  <a:srgbClr val="33383F"/>
                </a:solidFill>
              </a:rPr>
              <a:t>· </a:t>
            </a:r>
            <a:r>
              <a:rPr lang="ko-KR" altLang="en-US" sz="1400">
                <a:solidFill>
                  <a:srgbClr val="33383F"/>
                </a:solidFill>
              </a:rPr>
              <a:t>관리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C7C35EE-85A4-D84D-8451-CD50C443244D}"/>
              </a:ext>
            </a:extLst>
          </p:cNvPr>
          <p:cNvSpPr/>
          <p:nvPr/>
        </p:nvSpPr>
        <p:spPr>
          <a:xfrm>
            <a:off x="990600" y="5054600"/>
            <a:ext cx="63500" cy="635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722225-8493-BB4C-8035-3DF73E765D35}"/>
              </a:ext>
            </a:extLst>
          </p:cNvPr>
          <p:cNvSpPr txBox="1"/>
          <p:nvPr/>
        </p:nvSpPr>
        <p:spPr>
          <a:xfrm>
            <a:off x="1168400" y="4978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33383F"/>
                </a:solidFill>
              </a:rPr>
              <a:t>[</a:t>
            </a:r>
            <a:r>
              <a:rPr lang="ko-KR" altLang="en-US" sz="1400">
                <a:solidFill>
                  <a:srgbClr val="33383F"/>
                </a:solidFill>
              </a:rPr>
              <a:t>발주하기</a:t>
            </a:r>
            <a:r>
              <a:rPr lang="en-US" altLang="ko-KR" sz="1400">
                <a:solidFill>
                  <a:srgbClr val="33383F"/>
                </a:solidFill>
              </a:rPr>
              <a:t>] = </a:t>
            </a:r>
            <a:r>
              <a:rPr lang="ko-KR" altLang="en-US" sz="1400">
                <a:solidFill>
                  <a:srgbClr val="33383F"/>
                </a:solidFill>
              </a:rPr>
              <a:t>작업지시서 발행 </a:t>
            </a:r>
            <a:r>
              <a:rPr lang="en-US" altLang="ko-KR" sz="1400">
                <a:solidFill>
                  <a:srgbClr val="33383F"/>
                </a:solidFill>
              </a:rPr>
              <a:t>+ </a:t>
            </a:r>
            <a:r>
              <a:rPr lang="ko-KR" altLang="en-US" sz="1400">
                <a:solidFill>
                  <a:srgbClr val="33383F"/>
                </a:solidFill>
              </a:rPr>
              <a:t>상태 전환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5BD10B-0641-C446-8D7B-5F0F23F526FF}"/>
              </a:ext>
            </a:extLst>
          </p:cNvPr>
          <p:cNvSpPr/>
          <p:nvPr/>
        </p:nvSpPr>
        <p:spPr>
          <a:xfrm>
            <a:off x="6248400" y="3022600"/>
            <a:ext cx="5181600" cy="2362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7214AA-F1FE-0246-A715-44A6D6FCDE79}"/>
              </a:ext>
            </a:extLst>
          </p:cNvPr>
          <p:cNvSpPr/>
          <p:nvPr/>
        </p:nvSpPr>
        <p:spPr>
          <a:xfrm>
            <a:off x="6248400" y="3022600"/>
            <a:ext cx="5181600" cy="38100"/>
          </a:xfrm>
          <a:prstGeom prst="rect">
            <a:avLst/>
          </a:prstGeom>
          <a:solidFill>
            <a:srgbClr val="2C4A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5F44D2-3A81-C34A-870A-8C2EDD218150}"/>
              </a:ext>
            </a:extLst>
          </p:cNvPr>
          <p:cNvSpPr txBox="1"/>
          <p:nvPr/>
        </p:nvSpPr>
        <p:spPr>
          <a:xfrm>
            <a:off x="6477000" y="3200400"/>
            <a:ext cx="4724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500" b="1" dirty="0">
                <a:solidFill>
                  <a:srgbClr val="16283C"/>
                </a:solidFill>
              </a:rPr>
              <a:t>준비 카드 </a:t>
            </a:r>
            <a:r>
              <a:rPr lang="en-US" altLang="ko-KR" sz="1600" dirty="0">
                <a:solidFill>
                  <a:srgbClr val="33383F"/>
                </a:solidFill>
              </a:rPr>
              <a:t>-</a:t>
            </a:r>
            <a:r>
              <a:rPr lang="en-US" altLang="ko-KR" sz="1500" b="1" dirty="0">
                <a:solidFill>
                  <a:srgbClr val="16283C"/>
                </a:solidFill>
              </a:rPr>
              <a:t> </a:t>
            </a:r>
            <a:r>
              <a:rPr lang="ko-KR" altLang="en-US" sz="1500" b="1" dirty="0">
                <a:solidFill>
                  <a:srgbClr val="16283C"/>
                </a:solidFill>
              </a:rPr>
              <a:t>발주 완료 조건 </a:t>
            </a:r>
            <a:r>
              <a:rPr lang="en-US" altLang="ko-KR" sz="1500" b="1" dirty="0">
                <a:solidFill>
                  <a:srgbClr val="16283C"/>
                </a:solidFill>
              </a:rPr>
              <a:t>(</a:t>
            </a:r>
            <a:r>
              <a:rPr lang="ko-KR" altLang="en-US" sz="1500" b="1" dirty="0">
                <a:solidFill>
                  <a:srgbClr val="16283C"/>
                </a:solidFill>
              </a:rPr>
              <a:t>계약 </a:t>
            </a:r>
            <a:r>
              <a:rPr lang="en-US" altLang="ko-KR" sz="1500" b="1" dirty="0">
                <a:solidFill>
                  <a:srgbClr val="16283C"/>
                </a:solidFill>
              </a:rPr>
              <a:t>1</a:t>
            </a:r>
            <a:r>
              <a:rPr lang="ko-KR" altLang="en-US" sz="1500" b="1" dirty="0">
                <a:solidFill>
                  <a:srgbClr val="16283C"/>
                </a:solidFill>
              </a:rPr>
              <a:t>건당 </a:t>
            </a:r>
            <a:r>
              <a:rPr lang="en-US" altLang="ko-KR" sz="1500" b="1" dirty="0">
                <a:solidFill>
                  <a:srgbClr val="16283C"/>
                </a:solidFill>
              </a:rPr>
              <a:t>1</a:t>
            </a:r>
            <a:r>
              <a:rPr lang="ko-KR" altLang="en-US" sz="1500" b="1" dirty="0">
                <a:solidFill>
                  <a:srgbClr val="16283C"/>
                </a:solidFill>
              </a:rPr>
              <a:t>장</a:t>
            </a:r>
            <a:r>
              <a:rPr lang="en-US" altLang="ko-KR" sz="1500" b="1" dirty="0">
                <a:solidFill>
                  <a:srgbClr val="16283C"/>
                </a:solidFill>
              </a:rPr>
              <a:t>)</a:t>
            </a:r>
            <a:endParaRPr lang="ko-KR" altLang="en-US" sz="1500" b="1" dirty="0">
              <a:solidFill>
                <a:srgbClr val="16283C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DDAA26-C2E2-694F-9921-D8E8105ABE98}"/>
              </a:ext>
            </a:extLst>
          </p:cNvPr>
          <p:cNvSpPr txBox="1"/>
          <p:nvPr/>
        </p:nvSpPr>
        <p:spPr>
          <a:xfrm>
            <a:off x="6477000" y="36576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계약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852247-1014-F646-9A44-E03DA8180FB5}"/>
              </a:ext>
            </a:extLst>
          </p:cNvPr>
          <p:cNvSpPr txBox="1"/>
          <p:nvPr/>
        </p:nvSpPr>
        <p:spPr>
          <a:xfrm>
            <a:off x="8051800" y="3657600"/>
            <a:ext cx="325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계약완료 </a:t>
            </a:r>
            <a:r>
              <a:rPr lang="en-US" altLang="ko-KR" sz="1400">
                <a:solidFill>
                  <a:srgbClr val="6E7B8B"/>
                </a:solidFill>
              </a:rPr>
              <a:t>(</a:t>
            </a:r>
            <a:r>
              <a:rPr lang="ko-KR" altLang="en-US" sz="1400">
                <a:solidFill>
                  <a:srgbClr val="6E7B8B"/>
                </a:solidFill>
              </a:rPr>
              <a:t>고정</a:t>
            </a:r>
            <a:r>
              <a:rPr lang="en-US" altLang="ko-KR" sz="1400">
                <a:solidFill>
                  <a:srgbClr val="6E7B8B"/>
                </a:solidFill>
              </a:rPr>
              <a:t>)</a:t>
            </a:r>
            <a:endParaRPr lang="ko-KR" altLang="en-US" sz="1400">
              <a:solidFill>
                <a:srgbClr val="6E7B8B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71E4CC-CA79-824E-B7D9-EADFC25D8222}"/>
              </a:ext>
            </a:extLst>
          </p:cNvPr>
          <p:cNvSpPr/>
          <p:nvPr/>
        </p:nvSpPr>
        <p:spPr>
          <a:xfrm>
            <a:off x="6477000" y="3987800"/>
            <a:ext cx="47244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2F60BC-1DDC-3640-8444-8F1EC90BCB9D}"/>
              </a:ext>
            </a:extLst>
          </p:cNvPr>
          <p:cNvSpPr txBox="1"/>
          <p:nvPr/>
        </p:nvSpPr>
        <p:spPr>
          <a:xfrm>
            <a:off x="6477000" y="40894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스타일 컨설팅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7AF4C6-EE29-0E4E-A9FC-2B490F528D06}"/>
              </a:ext>
            </a:extLst>
          </p:cNvPr>
          <p:cNvSpPr txBox="1"/>
          <p:nvPr/>
        </p:nvSpPr>
        <p:spPr>
          <a:xfrm>
            <a:off x="8051800" y="4089400"/>
            <a:ext cx="325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품목 확정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740E33F-942E-1B41-889B-2C480E5BF31F}"/>
              </a:ext>
            </a:extLst>
          </p:cNvPr>
          <p:cNvSpPr/>
          <p:nvPr/>
        </p:nvSpPr>
        <p:spPr>
          <a:xfrm>
            <a:off x="6477000" y="4419600"/>
            <a:ext cx="47244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B2B027-8C17-474C-9F73-B17E9DDE3B5A}"/>
              </a:ext>
            </a:extLst>
          </p:cNvPr>
          <p:cNvSpPr txBox="1"/>
          <p:nvPr/>
        </p:nvSpPr>
        <p:spPr>
          <a:xfrm>
            <a:off x="6477000" y="4521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채촌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8B5A9D-3133-614F-9096-99EF515E87A9}"/>
              </a:ext>
            </a:extLst>
          </p:cNvPr>
          <p:cNvSpPr txBox="1"/>
          <p:nvPr/>
        </p:nvSpPr>
        <p:spPr>
          <a:xfrm>
            <a:off x="8051800" y="4521200"/>
            <a:ext cx="325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E7B8B"/>
                </a:solidFill>
              </a:rPr>
              <a:t>값 든 채촌 연결 </a:t>
            </a:r>
            <a:r>
              <a:rPr lang="en-US" altLang="ko-KR" sz="1400">
                <a:solidFill>
                  <a:srgbClr val="6E7B8B"/>
                </a:solidFill>
              </a:rPr>
              <a:t>(</a:t>
            </a:r>
            <a:r>
              <a:rPr lang="ko-KR" altLang="en-US" sz="1400">
                <a:solidFill>
                  <a:srgbClr val="6E7B8B"/>
                </a:solidFill>
              </a:rPr>
              <a:t>맞춤 품목만</a:t>
            </a:r>
            <a:r>
              <a:rPr lang="en-US" altLang="ko-KR" sz="1400">
                <a:solidFill>
                  <a:srgbClr val="6E7B8B"/>
                </a:solidFill>
              </a:rPr>
              <a:t>)</a:t>
            </a:r>
            <a:endParaRPr lang="ko-KR" altLang="en-US" sz="1400">
              <a:solidFill>
                <a:srgbClr val="6E7B8B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0DA05B0-2682-7B4F-9DBD-BA598FAF343A}"/>
              </a:ext>
            </a:extLst>
          </p:cNvPr>
          <p:cNvSpPr/>
          <p:nvPr/>
        </p:nvSpPr>
        <p:spPr>
          <a:xfrm>
            <a:off x="6477000" y="4851400"/>
            <a:ext cx="47244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FFB4AB-62C2-6446-BFD7-EDC883BBFBC2}"/>
              </a:ext>
            </a:extLst>
          </p:cNvPr>
          <p:cNvSpPr txBox="1"/>
          <p:nvPr/>
        </p:nvSpPr>
        <p:spPr>
          <a:xfrm>
            <a:off x="6477000" y="5003800"/>
            <a:ext cx="4724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A34B3C"/>
                </a:solidFill>
              </a:rPr>
              <a:t>옵션</a:t>
            </a:r>
            <a:r>
              <a:rPr lang="en-US" altLang="ko-KR" sz="1400">
                <a:solidFill>
                  <a:srgbClr val="A34B3C"/>
                </a:solidFill>
              </a:rPr>
              <a:t>·</a:t>
            </a:r>
            <a:r>
              <a:rPr lang="ko-KR" altLang="en-US" sz="1400">
                <a:solidFill>
                  <a:srgbClr val="A34B3C"/>
                </a:solidFill>
              </a:rPr>
              <a:t>채촌 대기 품목은 발주할 수 없습니다</a:t>
            </a:r>
            <a:r>
              <a:rPr lang="en-US" altLang="ko-KR" sz="1400">
                <a:solidFill>
                  <a:srgbClr val="A34B3C"/>
                </a:solidFill>
              </a:rPr>
              <a:t>.</a:t>
            </a:r>
            <a:endParaRPr lang="ko-KR" altLang="en-US" sz="1400">
              <a:solidFill>
                <a:srgbClr val="A34B3C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1DDF7CC-7AC1-0247-8D59-5B0F4F87E4D0}"/>
              </a:ext>
            </a:extLst>
          </p:cNvPr>
          <p:cNvSpPr/>
          <p:nvPr/>
        </p:nvSpPr>
        <p:spPr>
          <a:xfrm>
            <a:off x="762000" y="5588000"/>
            <a:ext cx="10668000" cy="609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1DBD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1D802BB-6F82-1D40-B15A-A8A999B6FA58}"/>
              </a:ext>
            </a:extLst>
          </p:cNvPr>
          <p:cNvSpPr/>
          <p:nvPr/>
        </p:nvSpPr>
        <p:spPr>
          <a:xfrm>
            <a:off x="762000" y="5588000"/>
            <a:ext cx="50800" cy="609600"/>
          </a:xfrm>
          <a:prstGeom prst="rect">
            <a:avLst/>
          </a:prstGeom>
          <a:solidFill>
            <a:srgbClr val="A34B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BF23F-F099-7A4F-AD45-D57565F4C1BE}"/>
              </a:ext>
            </a:extLst>
          </p:cNvPr>
          <p:cNvSpPr txBox="1"/>
          <p:nvPr/>
        </p:nvSpPr>
        <p:spPr>
          <a:xfrm>
            <a:off x="1066800" y="5740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400" b="1" dirty="0">
                <a:solidFill>
                  <a:srgbClr val="A34B3C"/>
                </a:solidFill>
              </a:rPr>
              <a:t>발주하면 그 품목의 채촌</a:t>
            </a:r>
            <a:r>
              <a:rPr lang="en-US" altLang="ko-KR" sz="1400" b="1" dirty="0">
                <a:solidFill>
                  <a:srgbClr val="A34B3C"/>
                </a:solidFill>
              </a:rPr>
              <a:t>·</a:t>
            </a:r>
            <a:r>
              <a:rPr lang="ko-KR" altLang="en-US" sz="1400" b="1" dirty="0">
                <a:solidFill>
                  <a:srgbClr val="A34B3C"/>
                </a:solidFill>
              </a:rPr>
              <a:t>옵션이 고정</a:t>
            </a:r>
            <a:r>
              <a:rPr lang="en-US" altLang="ko-KR" sz="1400" b="1" dirty="0">
                <a:solidFill>
                  <a:srgbClr val="A34B3C"/>
                </a:solidFill>
              </a:rPr>
              <a:t>(</a:t>
            </a:r>
            <a:r>
              <a:rPr lang="ko-KR" altLang="en-US" sz="1400" b="1" dirty="0">
                <a:solidFill>
                  <a:srgbClr val="A34B3C"/>
                </a:solidFill>
              </a:rPr>
              <a:t>잠김</a:t>
            </a:r>
            <a:r>
              <a:rPr lang="en-US" altLang="ko-KR" sz="1400" b="1" dirty="0">
                <a:solidFill>
                  <a:srgbClr val="A34B3C"/>
                </a:solidFill>
              </a:rPr>
              <a:t>)</a:t>
            </a:r>
            <a:r>
              <a:rPr lang="ko-KR" altLang="en-US" sz="1400" b="1" dirty="0">
                <a:solidFill>
                  <a:srgbClr val="A34B3C"/>
                </a:solidFill>
              </a:rPr>
              <a:t>됩니다 </a:t>
            </a:r>
            <a:r>
              <a:rPr lang="en-US" altLang="ko-KR" sz="1400" dirty="0">
                <a:solidFill>
                  <a:srgbClr val="33383F"/>
                </a:solidFill>
              </a:rPr>
              <a:t>-</a:t>
            </a:r>
            <a:r>
              <a:rPr lang="en-US" altLang="ko-KR" sz="1400" b="1" dirty="0">
                <a:solidFill>
                  <a:srgbClr val="A34B3C"/>
                </a:solidFill>
              </a:rPr>
              <a:t> </a:t>
            </a:r>
            <a:r>
              <a:rPr lang="ko-KR" altLang="en-US" sz="1400" b="1" dirty="0">
                <a:solidFill>
                  <a:srgbClr val="A34B3C"/>
                </a:solidFill>
              </a:rPr>
              <a:t>이미 발주한 품목의 팝업은 ‘서류 보기’ 모드로만 열립니다</a:t>
            </a:r>
            <a:r>
              <a:rPr lang="en-US" altLang="ko-KR" sz="1400" b="1" dirty="0">
                <a:solidFill>
                  <a:srgbClr val="A34B3C"/>
                </a:solidFill>
              </a:rPr>
              <a:t>.</a:t>
            </a:r>
            <a:endParaRPr lang="ko-KR" altLang="en-US" sz="1400" b="1" dirty="0">
              <a:solidFill>
                <a:srgbClr val="A3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43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C81D1-3379-57A3-6A25-01D357AB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1800"/>
            <a:ext cx="10668000" cy="533400"/>
          </a:xfrm>
        </p:spPr>
        <p:txBody>
          <a:bodyPr/>
          <a:lstStyle/>
          <a:p>
            <a:r>
              <a:rPr kumimoji="1" lang="ko-KR" altLang="en-US"/>
              <a:t>되돌리기와 꼭 기억할 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EEAD4-768C-AE43-B320-01429E00A2F9}"/>
              </a:ext>
            </a:extLst>
          </p:cNvPr>
          <p:cNvSpPr txBox="1"/>
          <p:nvPr/>
        </p:nvSpPr>
        <p:spPr>
          <a:xfrm>
            <a:off x="762000" y="1219200"/>
            <a:ext cx="635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6283C"/>
                </a:solidFill>
              </a:rPr>
              <a:t>되돌리기 </a:t>
            </a:r>
            <a:r>
              <a:rPr lang="en-US" altLang="ko-KR" sz="1500" b="1" dirty="0">
                <a:solidFill>
                  <a:srgbClr val="16283C"/>
                </a:solidFill>
              </a:rPr>
              <a:t>- </a:t>
            </a:r>
            <a:r>
              <a:rPr lang="ko-KR" altLang="en-US" sz="1500" b="1" dirty="0">
                <a:solidFill>
                  <a:srgbClr val="16283C"/>
                </a:solidFill>
              </a:rPr>
              <a:t>수정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D5A36-39BD-C743-8051-3FA175F53FBD}"/>
              </a:ext>
            </a:extLst>
          </p:cNvPr>
          <p:cNvSpPr txBox="1"/>
          <p:nvPr/>
        </p:nvSpPr>
        <p:spPr>
          <a:xfrm>
            <a:off x="762000" y="1625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지금 상태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E1CA9-D49A-1F43-92C7-AF283FDE8D08}"/>
              </a:ext>
            </a:extLst>
          </p:cNvPr>
          <p:cNvSpPr txBox="1"/>
          <p:nvPr/>
        </p:nvSpPr>
        <p:spPr>
          <a:xfrm>
            <a:off x="3429000" y="1625600"/>
            <a:ext cx="241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61423-5BEC-624E-B482-D4A7DF4F45B6}"/>
              </a:ext>
            </a:extLst>
          </p:cNvPr>
          <p:cNvSpPr txBox="1"/>
          <p:nvPr/>
        </p:nvSpPr>
        <p:spPr>
          <a:xfrm>
            <a:off x="5969000" y="16256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결과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5A3C9A-97B2-1A42-9387-C7CED28E6D33}"/>
              </a:ext>
            </a:extLst>
          </p:cNvPr>
          <p:cNvSpPr/>
          <p:nvPr/>
        </p:nvSpPr>
        <p:spPr>
          <a:xfrm>
            <a:off x="762000" y="1955800"/>
            <a:ext cx="10668000" cy="20320"/>
          </a:xfrm>
          <a:prstGeom prst="rect">
            <a:avLst/>
          </a:prstGeom>
          <a:solidFill>
            <a:srgbClr val="1628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0FEF5-CE80-9446-AFE2-92671DF238E0}"/>
              </a:ext>
            </a:extLst>
          </p:cNvPr>
          <p:cNvSpPr txBox="1"/>
          <p:nvPr/>
        </p:nvSpPr>
        <p:spPr>
          <a:xfrm>
            <a:off x="762000" y="2133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서명완료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7B3044-D6C8-4343-943F-39A162E8526F}"/>
              </a:ext>
            </a:extLst>
          </p:cNvPr>
          <p:cNvSpPr txBox="1"/>
          <p:nvPr/>
        </p:nvSpPr>
        <p:spPr>
          <a:xfrm>
            <a:off x="3429000" y="21336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계약서 </a:t>
            </a:r>
            <a:r>
              <a:rPr lang="en-US" altLang="ko-KR" sz="1400" b="1">
                <a:solidFill>
                  <a:srgbClr val="8A6D3B"/>
                </a:solidFill>
              </a:rPr>
              <a:t>[</a:t>
            </a:r>
            <a:r>
              <a:rPr lang="ko-KR" altLang="en-US" sz="1400" b="1">
                <a:solidFill>
                  <a:srgbClr val="8A6D3B"/>
                </a:solidFill>
              </a:rPr>
              <a:t>수정하기</a:t>
            </a:r>
            <a:r>
              <a:rPr lang="en-US" altLang="ko-KR" sz="1400" b="1">
                <a:solidFill>
                  <a:srgbClr val="8A6D3B"/>
                </a:solidFill>
              </a:rPr>
              <a:t>]</a:t>
            </a:r>
            <a:endParaRPr lang="ko-KR" altLang="en-US" sz="1400" b="1">
              <a:solidFill>
                <a:srgbClr val="8A6D3B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ECEDE-EE8B-EF46-A2D1-729A41210E64}"/>
              </a:ext>
            </a:extLst>
          </p:cNvPr>
          <p:cNvSpPr txBox="1"/>
          <p:nvPr/>
        </p:nvSpPr>
        <p:spPr>
          <a:xfrm>
            <a:off x="5969000" y="2133600"/>
            <a:ext cx="546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 err="1">
                <a:solidFill>
                  <a:srgbClr val="33383F"/>
                </a:solidFill>
              </a:rPr>
              <a:t>작성중으로</a:t>
            </a:r>
            <a:r>
              <a:rPr lang="ko-KR" altLang="en-US" sz="1400" dirty="0">
                <a:solidFill>
                  <a:srgbClr val="33383F"/>
                </a:solidFill>
              </a:rPr>
              <a:t> 복귀 </a:t>
            </a:r>
            <a:r>
              <a:rPr lang="en-US" altLang="ko-KR" sz="1400" dirty="0">
                <a:solidFill>
                  <a:srgbClr val="33383F"/>
                </a:solidFill>
              </a:rPr>
              <a:t>- </a:t>
            </a:r>
            <a:r>
              <a:rPr lang="ko-KR" altLang="en-US" sz="1400" dirty="0">
                <a:solidFill>
                  <a:srgbClr val="33383F"/>
                </a:solidFill>
              </a:rPr>
              <a:t>서명만 취소</a:t>
            </a:r>
            <a:r>
              <a:rPr lang="en-US" altLang="ko-KR" sz="1400" dirty="0">
                <a:solidFill>
                  <a:srgbClr val="33383F"/>
                </a:solidFill>
              </a:rPr>
              <a:t>, </a:t>
            </a:r>
            <a:r>
              <a:rPr lang="ko-KR" altLang="en-US" sz="1400" dirty="0">
                <a:solidFill>
                  <a:srgbClr val="33383F"/>
                </a:solidFill>
              </a:rPr>
              <a:t>컨설팅 선택은 유지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EBE7DD-8414-ED4F-9F42-61D3CD007667}"/>
              </a:ext>
            </a:extLst>
          </p:cNvPr>
          <p:cNvSpPr/>
          <p:nvPr/>
        </p:nvSpPr>
        <p:spPr>
          <a:xfrm>
            <a:off x="762000" y="2540000"/>
            <a:ext cx="106680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0EAEE0-8847-C640-A2F8-B3D1A31EA711}"/>
              </a:ext>
            </a:extLst>
          </p:cNvPr>
          <p:cNvSpPr txBox="1"/>
          <p:nvPr/>
        </p:nvSpPr>
        <p:spPr>
          <a:xfrm>
            <a:off x="762000" y="26924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계약완료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F10AB-2E0B-3641-AF5F-37292BECEEC0}"/>
              </a:ext>
            </a:extLst>
          </p:cNvPr>
          <p:cNvSpPr txBox="1"/>
          <p:nvPr/>
        </p:nvSpPr>
        <p:spPr>
          <a:xfrm>
            <a:off x="3429000" y="26924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계약서 </a:t>
            </a:r>
            <a:r>
              <a:rPr lang="en-US" altLang="ko-KR" sz="1400" b="1">
                <a:solidFill>
                  <a:srgbClr val="8A6D3B"/>
                </a:solidFill>
              </a:rPr>
              <a:t>[</a:t>
            </a:r>
            <a:r>
              <a:rPr lang="ko-KR" altLang="en-US" sz="1400" b="1">
                <a:solidFill>
                  <a:srgbClr val="8A6D3B"/>
                </a:solidFill>
              </a:rPr>
              <a:t>수정하기</a:t>
            </a:r>
            <a:r>
              <a:rPr lang="en-US" altLang="ko-KR" sz="1400" b="1">
                <a:solidFill>
                  <a:srgbClr val="8A6D3B"/>
                </a:solidFill>
              </a:rPr>
              <a:t>]</a:t>
            </a:r>
            <a:endParaRPr lang="ko-KR" altLang="en-US" sz="1400" b="1">
              <a:solidFill>
                <a:srgbClr val="8A6D3B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0DB1B9-1FAD-5C41-87DE-88905C8E96FA}"/>
              </a:ext>
            </a:extLst>
          </p:cNvPr>
          <p:cNvSpPr txBox="1"/>
          <p:nvPr/>
        </p:nvSpPr>
        <p:spPr>
          <a:xfrm>
            <a:off x="5969000" y="2692400"/>
            <a:ext cx="546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새 버전 생성</a:t>
            </a:r>
            <a:r>
              <a:rPr lang="en-US" altLang="ko-KR" sz="1400">
                <a:solidFill>
                  <a:srgbClr val="33383F"/>
                </a:solidFill>
              </a:rPr>
              <a:t>(</a:t>
            </a:r>
            <a:r>
              <a:rPr lang="ko-KR" altLang="en-US" sz="1400">
                <a:solidFill>
                  <a:srgbClr val="33383F"/>
                </a:solidFill>
              </a:rPr>
              <a:t>변경사유 필수</a:t>
            </a:r>
            <a:r>
              <a:rPr lang="en-US" altLang="ko-KR" sz="1400">
                <a:solidFill>
                  <a:srgbClr val="33383F"/>
                </a:solidFill>
              </a:rPr>
              <a:t>) </a:t>
            </a:r>
            <a:r>
              <a:rPr lang="ko-KR" altLang="en-US" sz="1400">
                <a:solidFill>
                  <a:srgbClr val="33383F"/>
                </a:solidFill>
              </a:rPr>
              <a:t>후 작성중 복귀 </a:t>
            </a:r>
            <a:r>
              <a:rPr lang="en-US" altLang="ko-KR" sz="1400">
                <a:solidFill>
                  <a:srgbClr val="33383F"/>
                </a:solidFill>
              </a:rPr>
              <a:t>· </a:t>
            </a:r>
            <a:r>
              <a:rPr lang="ko-KR" altLang="en-US" sz="1400">
                <a:solidFill>
                  <a:srgbClr val="33383F"/>
                </a:solidFill>
              </a:rPr>
              <a:t>재서명 필요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474A8F-2FA4-BA42-A03F-AD03C71D2EFA}"/>
              </a:ext>
            </a:extLst>
          </p:cNvPr>
          <p:cNvSpPr/>
          <p:nvPr/>
        </p:nvSpPr>
        <p:spPr>
          <a:xfrm>
            <a:off x="762000" y="3098800"/>
            <a:ext cx="106680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B13258-150A-214D-AAB1-0B530C33E6EC}"/>
              </a:ext>
            </a:extLst>
          </p:cNvPr>
          <p:cNvSpPr txBox="1"/>
          <p:nvPr/>
        </p:nvSpPr>
        <p:spPr>
          <a:xfrm>
            <a:off x="762000" y="32512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6283C"/>
                </a:solidFill>
              </a:rPr>
              <a:t>발주된 품목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1A4C94-3BC4-C243-88E3-31D402560AB1}"/>
              </a:ext>
            </a:extLst>
          </p:cNvPr>
          <p:cNvSpPr txBox="1"/>
          <p:nvPr/>
        </p:nvSpPr>
        <p:spPr>
          <a:xfrm>
            <a:off x="3429000" y="32512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8A6D3B"/>
                </a:solidFill>
              </a:rPr>
              <a:t>채촌 </a:t>
            </a:r>
            <a:r>
              <a:rPr lang="en-US" altLang="ko-KR" sz="1400" b="1">
                <a:solidFill>
                  <a:srgbClr val="8A6D3B"/>
                </a:solidFill>
              </a:rPr>
              <a:t>[</a:t>
            </a:r>
            <a:r>
              <a:rPr lang="ko-KR" altLang="en-US" sz="1400" b="1">
                <a:solidFill>
                  <a:srgbClr val="8A6D3B"/>
                </a:solidFill>
              </a:rPr>
              <a:t>복사</a:t>
            </a:r>
            <a:r>
              <a:rPr lang="en-US" altLang="ko-KR" sz="1400" b="1">
                <a:solidFill>
                  <a:srgbClr val="8A6D3B"/>
                </a:solidFill>
              </a:rPr>
              <a:t>]</a:t>
            </a:r>
            <a:endParaRPr lang="ko-KR" altLang="en-US" sz="1400" b="1">
              <a:solidFill>
                <a:srgbClr val="8A6D3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3B911C-67A4-7A4E-B2D5-F357E2AE282C}"/>
              </a:ext>
            </a:extLst>
          </p:cNvPr>
          <p:cNvSpPr txBox="1"/>
          <p:nvPr/>
        </p:nvSpPr>
        <p:spPr>
          <a:xfrm>
            <a:off x="5969000" y="3251200"/>
            <a:ext cx="546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3383F"/>
                </a:solidFill>
              </a:rPr>
              <a:t>새 채촌 기록을 만들어 재발주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1946BA-CC0B-5342-BA7D-014A831CDCD9}"/>
              </a:ext>
            </a:extLst>
          </p:cNvPr>
          <p:cNvSpPr/>
          <p:nvPr/>
        </p:nvSpPr>
        <p:spPr>
          <a:xfrm>
            <a:off x="762000" y="3657600"/>
            <a:ext cx="10668000" cy="11430"/>
          </a:xfrm>
          <a:prstGeom prst="rect">
            <a:avLst/>
          </a:prstGeom>
          <a:solidFill>
            <a:srgbClr val="E8E2D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A55FF3-91A1-174F-9BEE-4091CFDD8E59}"/>
              </a:ext>
            </a:extLst>
          </p:cNvPr>
          <p:cNvSpPr txBox="1"/>
          <p:nvPr/>
        </p:nvSpPr>
        <p:spPr>
          <a:xfrm>
            <a:off x="762000" y="40640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6283C"/>
                </a:solidFill>
              </a:rPr>
              <a:t>꼭 기억할 것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8A03D95-C04B-1D49-A65E-75846A0B2A6F}"/>
              </a:ext>
            </a:extLst>
          </p:cNvPr>
          <p:cNvSpPr/>
          <p:nvPr/>
        </p:nvSpPr>
        <p:spPr>
          <a:xfrm>
            <a:off x="762000" y="4546600"/>
            <a:ext cx="76200" cy="762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AEC617-9770-084B-B4D3-007616F87DF0}"/>
              </a:ext>
            </a:extLst>
          </p:cNvPr>
          <p:cNvSpPr txBox="1"/>
          <p:nvPr/>
        </p:nvSpPr>
        <p:spPr>
          <a:xfrm>
            <a:off x="965200" y="4470400"/>
            <a:ext cx="9334634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3383F"/>
                </a:solidFill>
              </a:rPr>
              <a:t>서명은 컨설팅 완료가 전제 </a:t>
            </a:r>
            <a:r>
              <a:rPr lang="en-US" altLang="ko-KR" sz="1400" dirty="0">
                <a:solidFill>
                  <a:srgbClr val="33383F"/>
                </a:solidFill>
              </a:rPr>
              <a:t>: </a:t>
            </a:r>
            <a:r>
              <a:rPr lang="ko-KR" altLang="en-US" sz="1400" dirty="0">
                <a:solidFill>
                  <a:srgbClr val="33383F"/>
                </a:solidFill>
              </a:rPr>
              <a:t>확정이 끝나야 </a:t>
            </a:r>
            <a:r>
              <a:rPr lang="en-US" altLang="ko-KR" sz="1400" dirty="0">
                <a:solidFill>
                  <a:srgbClr val="33383F"/>
                </a:solidFill>
              </a:rPr>
              <a:t>[</a:t>
            </a:r>
            <a:r>
              <a:rPr lang="ko-KR" altLang="en-US" sz="1400" dirty="0">
                <a:solidFill>
                  <a:srgbClr val="33383F"/>
                </a:solidFill>
              </a:rPr>
              <a:t>서명</a:t>
            </a:r>
            <a:r>
              <a:rPr lang="en-US" altLang="ko-KR" sz="1400" dirty="0">
                <a:solidFill>
                  <a:srgbClr val="33383F"/>
                </a:solidFill>
              </a:rPr>
              <a:t>]</a:t>
            </a:r>
            <a:r>
              <a:rPr lang="ko-KR" altLang="en-US" sz="1400" dirty="0">
                <a:solidFill>
                  <a:srgbClr val="33383F"/>
                </a:solidFill>
              </a:rPr>
              <a:t>이 열립니다</a:t>
            </a:r>
            <a:r>
              <a:rPr lang="en-US" altLang="ko-KR" sz="1400" dirty="0">
                <a:solidFill>
                  <a:srgbClr val="33383F"/>
                </a:solidFill>
              </a:rPr>
              <a:t>.</a:t>
            </a:r>
            <a:endParaRPr lang="ko-KR" altLang="en-US" sz="1400" dirty="0">
              <a:solidFill>
                <a:srgbClr val="33383F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C7D4BE7-93E8-084F-9721-C46504238052}"/>
              </a:ext>
            </a:extLst>
          </p:cNvPr>
          <p:cNvSpPr/>
          <p:nvPr/>
        </p:nvSpPr>
        <p:spPr>
          <a:xfrm>
            <a:off x="762000" y="5032177"/>
            <a:ext cx="76200" cy="762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2BABA-836D-524E-A226-BB246BE7751A}"/>
              </a:ext>
            </a:extLst>
          </p:cNvPr>
          <p:cNvSpPr txBox="1"/>
          <p:nvPr/>
        </p:nvSpPr>
        <p:spPr>
          <a:xfrm>
            <a:off x="965200" y="4955977"/>
            <a:ext cx="9334634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3383F"/>
                </a:solidFill>
              </a:rPr>
              <a:t>계약완료 </a:t>
            </a:r>
            <a:r>
              <a:rPr lang="en-US" altLang="ko-KR" sz="1400" dirty="0">
                <a:solidFill>
                  <a:srgbClr val="33383F"/>
                </a:solidFill>
              </a:rPr>
              <a:t>= </a:t>
            </a:r>
            <a:r>
              <a:rPr lang="ko-KR" altLang="en-US" sz="1400" dirty="0">
                <a:solidFill>
                  <a:srgbClr val="33383F"/>
                </a:solidFill>
              </a:rPr>
              <a:t>주문 생성 시점 </a:t>
            </a:r>
            <a:r>
              <a:rPr lang="en-US" altLang="ko-KR" sz="1400" dirty="0">
                <a:solidFill>
                  <a:srgbClr val="33383F"/>
                </a:solidFill>
              </a:rPr>
              <a:t>: </a:t>
            </a:r>
            <a:r>
              <a:rPr lang="ko-KR" altLang="en-US" sz="1400" dirty="0">
                <a:solidFill>
                  <a:srgbClr val="33383F"/>
                </a:solidFill>
              </a:rPr>
              <a:t>고객이 ‘</a:t>
            </a:r>
            <a:r>
              <a:rPr lang="ko-KR" altLang="en-US" sz="1400" dirty="0" err="1">
                <a:solidFill>
                  <a:srgbClr val="33383F"/>
                </a:solidFill>
              </a:rPr>
              <a:t>계약고객’으로</a:t>
            </a:r>
            <a:r>
              <a:rPr lang="ko-KR" altLang="en-US" sz="1400" dirty="0">
                <a:solidFill>
                  <a:srgbClr val="33383F"/>
                </a:solidFill>
              </a:rPr>
              <a:t> 전환되고 </a:t>
            </a:r>
            <a:r>
              <a:rPr lang="ko-KR" altLang="en-US" sz="1400" dirty="0" err="1">
                <a:solidFill>
                  <a:srgbClr val="33383F"/>
                </a:solidFill>
              </a:rPr>
              <a:t>채촌이</a:t>
            </a:r>
            <a:r>
              <a:rPr lang="ko-KR" altLang="en-US" sz="1400" dirty="0">
                <a:solidFill>
                  <a:srgbClr val="33383F"/>
                </a:solidFill>
              </a:rPr>
              <a:t> 자동 연결됩니다</a:t>
            </a:r>
            <a:r>
              <a:rPr lang="en-US" altLang="ko-KR" sz="1400" dirty="0">
                <a:solidFill>
                  <a:srgbClr val="33383F"/>
                </a:solidFill>
              </a:rPr>
              <a:t>.</a:t>
            </a:r>
            <a:endParaRPr lang="ko-KR" altLang="en-US" sz="1400" dirty="0">
              <a:solidFill>
                <a:srgbClr val="33383F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3EDE31F-EC7D-B94D-9A43-8317DCEC48C7}"/>
              </a:ext>
            </a:extLst>
          </p:cNvPr>
          <p:cNvSpPr/>
          <p:nvPr/>
        </p:nvSpPr>
        <p:spPr>
          <a:xfrm>
            <a:off x="762000" y="5560497"/>
            <a:ext cx="76200" cy="762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AA376-A600-794D-9E86-6D09381E9877}"/>
              </a:ext>
            </a:extLst>
          </p:cNvPr>
          <p:cNvSpPr txBox="1"/>
          <p:nvPr/>
        </p:nvSpPr>
        <p:spPr>
          <a:xfrm>
            <a:off x="965200" y="5484297"/>
            <a:ext cx="9334634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3383F"/>
                </a:solidFill>
              </a:rPr>
              <a:t>취소는 주문 생성 전</a:t>
            </a:r>
            <a:r>
              <a:rPr lang="en-US" altLang="ko-KR" sz="1400" dirty="0">
                <a:solidFill>
                  <a:srgbClr val="33383F"/>
                </a:solidFill>
              </a:rPr>
              <a:t>(</a:t>
            </a:r>
            <a:r>
              <a:rPr lang="ko-KR" altLang="en-US" sz="1400" dirty="0" err="1">
                <a:solidFill>
                  <a:srgbClr val="33383F"/>
                </a:solidFill>
              </a:rPr>
              <a:t>작성중</a:t>
            </a:r>
            <a:r>
              <a:rPr lang="en-US" altLang="ko-KR" sz="1400" dirty="0">
                <a:solidFill>
                  <a:srgbClr val="33383F"/>
                </a:solidFill>
              </a:rPr>
              <a:t>·</a:t>
            </a:r>
            <a:r>
              <a:rPr lang="ko-KR" altLang="en-US" sz="1400" dirty="0">
                <a:solidFill>
                  <a:srgbClr val="33383F"/>
                </a:solidFill>
              </a:rPr>
              <a:t>서명완료</a:t>
            </a:r>
            <a:r>
              <a:rPr lang="en-US" altLang="ko-KR" sz="1400" dirty="0">
                <a:solidFill>
                  <a:srgbClr val="33383F"/>
                </a:solidFill>
              </a:rPr>
              <a:t>)</a:t>
            </a:r>
            <a:r>
              <a:rPr lang="ko-KR" altLang="en-US" sz="1400" dirty="0" err="1">
                <a:solidFill>
                  <a:srgbClr val="33383F"/>
                </a:solidFill>
              </a:rPr>
              <a:t>에만</a:t>
            </a:r>
            <a:r>
              <a:rPr lang="ko-KR" altLang="en-US" sz="1400" dirty="0">
                <a:solidFill>
                  <a:srgbClr val="33383F"/>
                </a:solidFill>
              </a:rPr>
              <a:t> 가능합니다</a:t>
            </a:r>
            <a:r>
              <a:rPr lang="en-US" altLang="ko-KR" sz="1400" dirty="0">
                <a:solidFill>
                  <a:srgbClr val="33383F"/>
                </a:solidFill>
              </a:rPr>
              <a:t>.</a:t>
            </a:r>
            <a:endParaRPr lang="ko-KR" altLang="en-US" sz="1400" dirty="0">
              <a:solidFill>
                <a:srgbClr val="33383F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C8834AC-E98B-A94B-BBDD-CF2FC44B33F3}"/>
              </a:ext>
            </a:extLst>
          </p:cNvPr>
          <p:cNvSpPr/>
          <p:nvPr/>
        </p:nvSpPr>
        <p:spPr>
          <a:xfrm>
            <a:off x="762000" y="6088817"/>
            <a:ext cx="76200" cy="76200"/>
          </a:xfrm>
          <a:prstGeom prst="ellipse">
            <a:avLst/>
          </a:prstGeom>
          <a:solidFill>
            <a:srgbClr val="B08D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3240F9-1A14-AC40-9E49-0FF470E4B6C5}"/>
              </a:ext>
            </a:extLst>
          </p:cNvPr>
          <p:cNvSpPr txBox="1"/>
          <p:nvPr/>
        </p:nvSpPr>
        <p:spPr>
          <a:xfrm>
            <a:off x="965200" y="6012617"/>
            <a:ext cx="9334634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33383F"/>
                </a:solidFill>
              </a:rPr>
              <a:t>빈 </a:t>
            </a:r>
            <a:r>
              <a:rPr lang="ko-KR" altLang="en-US" sz="1400" dirty="0" err="1">
                <a:solidFill>
                  <a:srgbClr val="33383F"/>
                </a:solidFill>
              </a:rPr>
              <a:t>채촌은</a:t>
            </a:r>
            <a:r>
              <a:rPr lang="ko-KR" altLang="en-US" sz="1400" dirty="0">
                <a:solidFill>
                  <a:srgbClr val="33383F"/>
                </a:solidFill>
              </a:rPr>
              <a:t> 발주를 막습니다 </a:t>
            </a:r>
            <a:r>
              <a:rPr lang="en-US" altLang="ko-KR" sz="1400" dirty="0">
                <a:solidFill>
                  <a:srgbClr val="33383F"/>
                </a:solidFill>
              </a:rPr>
              <a:t>: </a:t>
            </a:r>
            <a:r>
              <a:rPr lang="ko-KR" altLang="en-US" sz="1400" dirty="0">
                <a:solidFill>
                  <a:srgbClr val="33383F"/>
                </a:solidFill>
              </a:rPr>
              <a:t>반드시 치수를 입력해 저장하세요</a:t>
            </a:r>
            <a:r>
              <a:rPr lang="en-US" altLang="ko-KR" sz="1400" dirty="0">
                <a:solidFill>
                  <a:srgbClr val="33383F"/>
                </a:solidFill>
              </a:rPr>
              <a:t>.</a:t>
            </a:r>
            <a:endParaRPr lang="ko-KR" altLang="en-US" sz="1400" dirty="0">
              <a:solidFill>
                <a:srgbClr val="3338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827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6864654502]">
  <a:themeElements>
    <a:clrScheme name="Office">
      <a:dk1>
        <a:srgbClr val="20242B"/>
      </a:dk1>
      <a:lt1>
        <a:srgbClr val="FFFFFF"/>
      </a:lt1>
      <a:dk2>
        <a:srgbClr val="16283C"/>
      </a:dk2>
      <a:lt2>
        <a:srgbClr val="F5F1EA"/>
      </a:lt2>
      <a:accent1>
        <a:srgbClr val="B08D57"/>
      </a:accent1>
      <a:accent2>
        <a:srgbClr val="2C4A6E"/>
      </a:accent2>
      <a:accent3>
        <a:srgbClr val="3E7CA6"/>
      </a:accent3>
      <a:accent4>
        <a:srgbClr val="C29A44"/>
      </a:accent4>
      <a:accent5>
        <a:srgbClr val="6E7B8B"/>
      </a:accent5>
      <a:accent6>
        <a:srgbClr val="A34B3C"/>
      </a:accent6>
      <a:hlink>
        <a:srgbClr val="467886"/>
      </a:hlink>
      <a:folHlink>
        <a:srgbClr val="96607D"/>
      </a:folHlink>
    </a:clrScheme>
    <a:fontScheme name="Office">
      <a:majorFont>
        <a:latin typeface="Malgun Gothic" panose="02110004020202020204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 panose="02110004020202020204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139540-092C-E14B-9183-EC59AB5067F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e1bb8d3-333c-4dcb-858f-2c1d977690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2795</TotalTime>
  <Words>990</Words>
  <Application>Microsoft Macintosh PowerPoint</Application>
  <PresentationFormat>와이드스크린</PresentationFormat>
  <Paragraphs>166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Malgun Gothic</vt:lpstr>
      <vt:lpstr>Arial</vt:lpstr>
      <vt:lpstr>Office 테마 [1786864654502]</vt:lpstr>
      <vt:lpstr>PowerPoint 프레젠테이션</vt:lpstr>
      <vt:lpstr>전체 업무 흐름</vt:lpstr>
      <vt:lpstr>진행 5단계 - 무엇을 하면 다음이 열리는가</vt:lpstr>
      <vt:lpstr>01 · 계약서 - 모든 업무의 출발점</vt:lpstr>
      <vt:lpstr>02 · 스타일 컨설팅 - 확정해야 서명이 열립니다</vt:lpstr>
      <vt:lpstr>03 · 채촌 - 값이 든 채촌이 발주를 엽니다</vt:lpstr>
      <vt:lpstr>04 · 작업 관리 - 발주와 제작 진행</vt:lpstr>
      <vt:lpstr>되돌리기와 꼭 기억할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</dc:creator>
  <cp:lastModifiedBy>O365</cp:lastModifiedBy>
  <cp:revision>3</cp:revision>
  <dcterms:created xsi:type="dcterms:W3CDTF">2026-08-16T06:22:22Z</dcterms:created>
  <dcterms:modified xsi:type="dcterms:W3CDTF">2026-08-18T04:58:19Z</dcterms:modified>
</cp:coreProperties>
</file>